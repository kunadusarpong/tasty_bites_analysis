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6.xml" ContentType="application/vnd.openxmlformats-officedocument.presentationml.notesSlide+xml"/>
  <Override PartName="/ppt/charts/chart5.xml" ContentType="application/vnd.openxmlformats-officedocument.drawingml.chart+xml"/>
  <Override PartName="/ppt/notesSlides/notesSlide7.xml" ContentType="application/vnd.openxmlformats-officedocument.presentationml.notesSlide+xml"/>
  <Override PartName="/ppt/charts/chart6.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1" r:id="rId4"/>
    <p:sldId id="258" r:id="rId5"/>
    <p:sldId id="259" r:id="rId6"/>
    <p:sldId id="260" r:id="rId7"/>
    <p:sldId id="264" r:id="rId8"/>
    <p:sldId id="262" r:id="rId9"/>
    <p:sldId id="263"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GB" sz="2000" b="1" dirty="0">
                <a:latin typeface="+mn-lt"/>
              </a:rPr>
              <a:t>Total Sales</a:t>
            </a:r>
            <a:r>
              <a:rPr lang="en-GB" sz="2000" b="1" baseline="0" dirty="0">
                <a:latin typeface="+mn-lt"/>
              </a:rPr>
              <a:t> &amp; Customer Visits Trend over 8 months</a:t>
            </a:r>
            <a:endParaRPr lang="en-GB" sz="2000" b="1" dirty="0">
              <a:latin typeface="+mn-lt"/>
            </a:endParaRPr>
          </a:p>
        </c:rich>
      </c:tx>
      <c:layout>
        <c:manualLayout>
          <c:xMode val="edge"/>
          <c:yMode val="edge"/>
          <c:x val="0.2164656421321707"/>
          <c:y val="1.1402227025522583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4210499098175869"/>
          <c:y val="0.13125059406533135"/>
          <c:w val="0.84212127281969595"/>
          <c:h val="0.62909247939693425"/>
        </c:manualLayout>
      </c:layout>
      <c:lineChart>
        <c:grouping val="standard"/>
        <c:varyColors val="0"/>
        <c:ser>
          <c:idx val="0"/>
          <c:order val="0"/>
          <c:tx>
            <c:strRef>
              <c:f>Sheet1!$B$1</c:f>
              <c:strCache>
                <c:ptCount val="1"/>
                <c:pt idx="0">
                  <c:v>Total Sales (GHS'00)</c:v>
                </c:pt>
              </c:strCache>
            </c:strRef>
          </c:tx>
          <c:spPr>
            <a:ln w="28575" cap="rnd">
              <a:solidFill>
                <a:schemeClr val="accent6">
                  <a:lumMod val="75000"/>
                </a:schemeClr>
              </a:solidFill>
              <a:round/>
            </a:ln>
            <a:effectLst/>
          </c:spPr>
          <c:marker>
            <c:symbol val="circle"/>
            <c:size val="5"/>
            <c:spPr>
              <a:solidFill>
                <a:schemeClr val="accent6">
                  <a:lumMod val="75000"/>
                </a:schemeClr>
              </a:solidFill>
              <a:ln w="9525">
                <a:solidFill>
                  <a:schemeClr val="accent1"/>
                </a:solidFill>
              </a:ln>
              <a:effectLst/>
            </c:spPr>
          </c:marker>
          <c:cat>
            <c:strRef>
              <c:f>Sheet1!$A$2:$A$9</c:f>
              <c:strCache>
                <c:ptCount val="8"/>
                <c:pt idx="0">
                  <c:v>Jul 2024</c:v>
                </c:pt>
                <c:pt idx="1">
                  <c:v>Aug 2024</c:v>
                </c:pt>
                <c:pt idx="2">
                  <c:v>Sep 2024</c:v>
                </c:pt>
                <c:pt idx="3">
                  <c:v>Oct 2024</c:v>
                </c:pt>
                <c:pt idx="4">
                  <c:v>Nov 2024</c:v>
                </c:pt>
                <c:pt idx="5">
                  <c:v>Dec 2024</c:v>
                </c:pt>
                <c:pt idx="6">
                  <c:v>Jan 2025</c:v>
                </c:pt>
                <c:pt idx="7">
                  <c:v>Feb 2025</c:v>
                </c:pt>
              </c:strCache>
            </c:strRef>
          </c:cat>
          <c:val>
            <c:numRef>
              <c:f>Sheet1!$B$2:$B$9</c:f>
              <c:numCache>
                <c:formatCode>General</c:formatCode>
                <c:ptCount val="8"/>
                <c:pt idx="0">
                  <c:v>1287</c:v>
                </c:pt>
                <c:pt idx="1">
                  <c:v>1524</c:v>
                </c:pt>
                <c:pt idx="2">
                  <c:v>1683</c:v>
                </c:pt>
                <c:pt idx="3">
                  <c:v>1890</c:v>
                </c:pt>
                <c:pt idx="4">
                  <c:v>1671</c:v>
                </c:pt>
                <c:pt idx="5">
                  <c:v>1729</c:v>
                </c:pt>
                <c:pt idx="6">
                  <c:v>1755</c:v>
                </c:pt>
                <c:pt idx="7">
                  <c:v>1623</c:v>
                </c:pt>
              </c:numCache>
            </c:numRef>
          </c:val>
          <c:smooth val="0"/>
          <c:extLst>
            <c:ext xmlns:c16="http://schemas.microsoft.com/office/drawing/2014/chart" uri="{C3380CC4-5D6E-409C-BE32-E72D297353CC}">
              <c16:uniqueId val="{00000000-B60F-4212-8C71-A4E667EF7308}"/>
            </c:ext>
          </c:extLst>
        </c:ser>
        <c:ser>
          <c:idx val="1"/>
          <c:order val="1"/>
          <c:tx>
            <c:strRef>
              <c:f>Sheet1!$C$1</c:f>
              <c:strCache>
                <c:ptCount val="1"/>
                <c:pt idx="0">
                  <c:v>Total Customer Visits</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Sheet1!$A$2:$A$9</c:f>
              <c:strCache>
                <c:ptCount val="8"/>
                <c:pt idx="0">
                  <c:v>Jul 2024</c:v>
                </c:pt>
                <c:pt idx="1">
                  <c:v>Aug 2024</c:v>
                </c:pt>
                <c:pt idx="2">
                  <c:v>Sep 2024</c:v>
                </c:pt>
                <c:pt idx="3">
                  <c:v>Oct 2024</c:v>
                </c:pt>
                <c:pt idx="4">
                  <c:v>Nov 2024</c:v>
                </c:pt>
                <c:pt idx="5">
                  <c:v>Dec 2024</c:v>
                </c:pt>
                <c:pt idx="6">
                  <c:v>Jan 2025</c:v>
                </c:pt>
                <c:pt idx="7">
                  <c:v>Feb 2025</c:v>
                </c:pt>
              </c:strCache>
            </c:strRef>
          </c:cat>
          <c:val>
            <c:numRef>
              <c:f>Sheet1!$C$2:$C$9</c:f>
              <c:numCache>
                <c:formatCode>General</c:formatCode>
                <c:ptCount val="8"/>
                <c:pt idx="0">
                  <c:v>3123</c:v>
                </c:pt>
                <c:pt idx="1">
                  <c:v>3737</c:v>
                </c:pt>
                <c:pt idx="2">
                  <c:v>4183</c:v>
                </c:pt>
                <c:pt idx="3">
                  <c:v>4740</c:v>
                </c:pt>
                <c:pt idx="4">
                  <c:v>4204</c:v>
                </c:pt>
                <c:pt idx="5">
                  <c:v>4276</c:v>
                </c:pt>
                <c:pt idx="6">
                  <c:v>4301</c:v>
                </c:pt>
                <c:pt idx="7">
                  <c:v>3737</c:v>
                </c:pt>
              </c:numCache>
            </c:numRef>
          </c:val>
          <c:smooth val="0"/>
          <c:extLst>
            <c:ext xmlns:c16="http://schemas.microsoft.com/office/drawing/2014/chart" uri="{C3380CC4-5D6E-409C-BE32-E72D297353CC}">
              <c16:uniqueId val="{00000001-B60F-4212-8C71-A4E667EF7308}"/>
            </c:ext>
          </c:extLst>
        </c:ser>
        <c:dLbls>
          <c:showLegendKey val="0"/>
          <c:showVal val="0"/>
          <c:showCatName val="0"/>
          <c:showSerName val="0"/>
          <c:showPercent val="0"/>
          <c:showBubbleSize val="0"/>
        </c:dLbls>
        <c:marker val="1"/>
        <c:smooth val="0"/>
        <c:axId val="794710192"/>
        <c:axId val="794722672"/>
      </c:lineChart>
      <c:catAx>
        <c:axId val="794710192"/>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GB" sz="1600" baseline="0" dirty="0">
                    <a:latin typeface="+mn-lt"/>
                  </a:rPr>
                  <a:t>Period (Month – Year)</a:t>
                </a:r>
              </a:p>
            </c:rich>
          </c:tx>
          <c:layout>
            <c:manualLayout>
              <c:xMode val="edge"/>
              <c:yMode val="edge"/>
              <c:x val="0.42957832008418972"/>
              <c:y val="0.84502398283381253"/>
            </c:manualLayout>
          </c:layout>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4722672"/>
        <c:crosses val="autoZero"/>
        <c:auto val="1"/>
        <c:lblAlgn val="ctr"/>
        <c:lblOffset val="100"/>
        <c:noMultiLvlLbl val="0"/>
      </c:catAx>
      <c:valAx>
        <c:axId val="79472267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GB" sz="1600" dirty="0">
                    <a:latin typeface="+mn-lt"/>
                  </a:rPr>
                  <a:t>Total Sales (GHS’00) &amp; Customers</a:t>
                </a:r>
                <a:r>
                  <a:rPr lang="en-GB" sz="1600" baseline="0" dirty="0">
                    <a:latin typeface="+mn-lt"/>
                  </a:rPr>
                  <a:t> Visits</a:t>
                </a:r>
                <a:endParaRPr lang="en-GB" sz="1600" dirty="0">
                  <a:latin typeface="+mn-lt"/>
                </a:endParaRPr>
              </a:p>
            </c:rich>
          </c:tx>
          <c:layout>
            <c:manualLayout>
              <c:xMode val="edge"/>
              <c:yMode val="edge"/>
              <c:x val="2.1157439250177251E-2"/>
              <c:y val="0.10679711891759648"/>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47101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Sales (GHS)</c:v>
                </c:pt>
              </c:strCache>
            </c:strRef>
          </c:tx>
          <c:spPr>
            <a:solidFill>
              <a:srgbClr val="A7BEAE"/>
            </a:solidFill>
            <a:effectLst/>
          </c:spPr>
          <c:invertIfNegative val="0"/>
          <c:dPt>
            <c:idx val="0"/>
            <c:invertIfNegative val="0"/>
            <c:bubble3D val="0"/>
            <c:extLst>
              <c:ext xmlns:c16="http://schemas.microsoft.com/office/drawing/2014/chart" uri="{C3380CC4-5D6E-409C-BE32-E72D297353CC}">
                <c16:uniqueId val="{00000001-1F91-4476-86D3-A251C5C1FD5C}"/>
              </c:ext>
            </c:extLst>
          </c:dPt>
          <c:dPt>
            <c:idx val="1"/>
            <c:invertIfNegative val="0"/>
            <c:bubble3D val="0"/>
            <c:extLst>
              <c:ext xmlns:c16="http://schemas.microsoft.com/office/drawing/2014/chart" uri="{C3380CC4-5D6E-409C-BE32-E72D297353CC}">
                <c16:uniqueId val="{00000003-1F91-4476-86D3-A251C5C1FD5C}"/>
              </c:ext>
            </c:extLst>
          </c:dPt>
          <c:dPt>
            <c:idx val="2"/>
            <c:invertIfNegative val="0"/>
            <c:bubble3D val="0"/>
            <c:extLst>
              <c:ext xmlns:c16="http://schemas.microsoft.com/office/drawing/2014/chart" uri="{C3380CC4-5D6E-409C-BE32-E72D297353CC}">
                <c16:uniqueId val="{00000005-1F91-4476-86D3-A251C5C1FD5C}"/>
              </c:ext>
            </c:extLst>
          </c:dPt>
          <c:dPt>
            <c:idx val="3"/>
            <c:invertIfNegative val="0"/>
            <c:bubble3D val="0"/>
            <c:extLst>
              <c:ext xmlns:c16="http://schemas.microsoft.com/office/drawing/2014/chart" uri="{C3380CC4-5D6E-409C-BE32-E72D297353CC}">
                <c16:uniqueId val="{00000007-1F91-4476-86D3-A251C5C1FD5C}"/>
              </c:ext>
            </c:extLst>
          </c:dPt>
          <c:dPt>
            <c:idx val="4"/>
            <c:invertIfNegative val="0"/>
            <c:bubble3D val="0"/>
            <c:spPr>
              <a:solidFill>
                <a:srgbClr val="D99A5B"/>
              </a:solidFill>
              <a:effectLst/>
            </c:spPr>
            <c:extLst>
              <c:ext xmlns:c16="http://schemas.microsoft.com/office/drawing/2014/chart" uri="{C3380CC4-5D6E-409C-BE32-E72D297353CC}">
                <c16:uniqueId val="{00000009-1F91-4476-86D3-A251C5C1FD5C}"/>
              </c:ext>
            </c:extLst>
          </c:dPt>
          <c:dPt>
            <c:idx val="5"/>
            <c:invertIfNegative val="0"/>
            <c:bubble3D val="0"/>
            <c:spPr>
              <a:solidFill>
                <a:srgbClr val="B85042"/>
              </a:solidFill>
              <a:effectLst/>
            </c:spPr>
            <c:extLst>
              <c:ext xmlns:c16="http://schemas.microsoft.com/office/drawing/2014/chart" uri="{C3380CC4-5D6E-409C-BE32-E72D297353CC}">
                <c16:uniqueId val="{0000000B-1F91-4476-86D3-A251C5C1FD5C}"/>
              </c:ext>
            </c:extLst>
          </c:dPt>
          <c:dPt>
            <c:idx val="6"/>
            <c:invertIfNegative val="0"/>
            <c:bubble3D val="0"/>
            <c:spPr>
              <a:solidFill>
                <a:srgbClr val="B85042"/>
              </a:solidFill>
              <a:effectLst/>
            </c:spPr>
            <c:extLst>
              <c:ext xmlns:c16="http://schemas.microsoft.com/office/drawing/2014/chart" uri="{C3380CC4-5D6E-409C-BE32-E72D297353CC}">
                <c16:uniqueId val="{0000000D-1F91-4476-86D3-A251C5C1FD5C}"/>
              </c:ext>
            </c:extLst>
          </c:dPt>
          <c:dLbls>
            <c:numFmt formatCode="#,##0" sourceLinked="0"/>
            <c:spPr>
              <a:noFill/>
              <a:ln>
                <a:noFill/>
              </a:ln>
              <a:effectLst/>
            </c:spPr>
            <c:txPr>
              <a:bodyPr/>
              <a:lstStyle/>
              <a:p>
                <a:pPr>
                  <a:defRPr sz="1000" b="0" i="0" u="none" strike="noStrike">
                    <a:solidFill>
                      <a:srgbClr val="3A2A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3765.71</c:v>
                </c:pt>
                <c:pt idx="1">
                  <c:v>4122.8599999999997</c:v>
                </c:pt>
                <c:pt idx="2">
                  <c:v>4697.1400000000003</c:v>
                </c:pt>
                <c:pt idx="3">
                  <c:v>4471.43</c:v>
                </c:pt>
                <c:pt idx="4">
                  <c:v>5834.29</c:v>
                </c:pt>
                <c:pt idx="5">
                  <c:v>7214.71</c:v>
                </c:pt>
                <c:pt idx="6">
                  <c:v>7911.76</c:v>
                </c:pt>
              </c:numCache>
            </c:numRef>
          </c:val>
          <c:extLst>
            <c:ext xmlns:c16="http://schemas.microsoft.com/office/drawing/2014/chart" uri="{C3380CC4-5D6E-409C-BE32-E72D297353CC}">
              <c16:uniqueId val="{0000000E-1F91-4476-86D3-A251C5C1FD5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8D0C5"/>
            </a:solidFill>
            <a:prstDash val="solid"/>
            <a:round/>
          </a:ln>
        </c:spPr>
        <c:txPr>
          <a:bodyPr/>
          <a:lstStyle/>
          <a:p>
            <a:pPr>
              <a:defRPr sz="1200" b="0" i="0" u="none" strike="noStrike">
                <a:solidFill>
                  <a:srgbClr val="36454F"/>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w="25400">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Avg Sales</c:v>
                </c:pt>
              </c:strCache>
            </c:strRef>
          </c:tx>
          <c:spPr>
            <a:solidFill>
              <a:srgbClr val="A7BEAE"/>
            </a:solidFill>
            <a:effectLst/>
          </c:spPr>
          <c:invertIfNegative val="0"/>
          <c:dPt>
            <c:idx val="0"/>
            <c:invertIfNegative val="0"/>
            <c:bubble3D val="0"/>
            <c:extLst>
              <c:ext xmlns:c16="http://schemas.microsoft.com/office/drawing/2014/chart" uri="{C3380CC4-5D6E-409C-BE32-E72D297353CC}">
                <c16:uniqueId val="{00000001-F58E-43E6-BB32-DE014BA91DE0}"/>
              </c:ext>
            </c:extLst>
          </c:dPt>
          <c:dPt>
            <c:idx val="1"/>
            <c:invertIfNegative val="0"/>
            <c:bubble3D val="0"/>
            <c:spPr>
              <a:solidFill>
                <a:srgbClr val="B85042"/>
              </a:solidFill>
              <a:effectLst/>
            </c:spPr>
            <c:extLst>
              <c:ext xmlns:c16="http://schemas.microsoft.com/office/drawing/2014/chart" uri="{C3380CC4-5D6E-409C-BE32-E72D297353CC}">
                <c16:uniqueId val="{00000003-F58E-43E6-BB32-DE014BA91DE0}"/>
              </c:ext>
            </c:extLst>
          </c:dPt>
          <c:dLbls>
            <c:numFmt formatCode="#,##0" sourceLinked="0"/>
            <c:spPr>
              <a:noFill/>
              <a:ln>
                <a:noFill/>
              </a:ln>
              <a:effectLst/>
            </c:spPr>
            <c:txPr>
              <a:bodyPr/>
              <a:lstStyle/>
              <a:p>
                <a:pPr>
                  <a:defRPr sz="1100" b="0" i="0" u="none" strike="noStrike">
                    <a:solidFill>
                      <a:srgbClr val="3A2A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 Promo</c:v>
                </c:pt>
                <c:pt idx="1">
                  <c:v>Promo Active</c:v>
                </c:pt>
              </c:strCache>
            </c:strRef>
          </c:cat>
          <c:val>
            <c:numRef>
              <c:f>Sheet1!$B$2:$B$3</c:f>
              <c:numCache>
                <c:formatCode>General</c:formatCode>
                <c:ptCount val="2"/>
                <c:pt idx="0">
                  <c:v>5190.6499999999996</c:v>
                </c:pt>
                <c:pt idx="1">
                  <c:v>5718.27</c:v>
                </c:pt>
              </c:numCache>
            </c:numRef>
          </c:val>
          <c:extLst>
            <c:ext xmlns:c16="http://schemas.microsoft.com/office/drawing/2014/chart" uri="{C3380CC4-5D6E-409C-BE32-E72D297353CC}">
              <c16:uniqueId val="{00000004-F58E-43E6-BB32-DE014BA91DE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D8D0C5"/>
            </a:solidFill>
            <a:prstDash val="solid"/>
            <a:round/>
          </a:ln>
        </c:spPr>
        <c:txPr>
          <a:bodyPr/>
          <a:lstStyle/>
          <a:p>
            <a:pPr>
              <a:defRPr sz="1200" b="0" i="0" u="none" strike="noStrike">
                <a:solidFill>
                  <a:srgbClr val="36454F"/>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AF9F6"/>
        </a:solid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Avg Sales</c:v>
                </c:pt>
              </c:strCache>
            </c:strRef>
          </c:tx>
          <c:spPr>
            <a:solidFill>
              <a:srgbClr val="D99A5B"/>
            </a:solidFill>
            <a:effectLst/>
          </c:spPr>
          <c:invertIfNegative val="0"/>
          <c:dPt>
            <c:idx val="0"/>
            <c:invertIfNegative val="0"/>
            <c:bubble3D val="0"/>
            <c:extLst>
              <c:ext xmlns:c16="http://schemas.microsoft.com/office/drawing/2014/chart" uri="{C3380CC4-5D6E-409C-BE32-E72D297353CC}">
                <c16:uniqueId val="{00000001-9852-419E-ABA7-01C84D0BB08E}"/>
              </c:ext>
            </c:extLst>
          </c:dPt>
          <c:dPt>
            <c:idx val="1"/>
            <c:invertIfNegative val="0"/>
            <c:bubble3D val="0"/>
            <c:spPr>
              <a:solidFill>
                <a:srgbClr val="A7BEAE"/>
              </a:solidFill>
              <a:effectLst/>
            </c:spPr>
            <c:extLst>
              <c:ext xmlns:c16="http://schemas.microsoft.com/office/drawing/2014/chart" uri="{C3380CC4-5D6E-409C-BE32-E72D297353CC}">
                <c16:uniqueId val="{00000003-9852-419E-ABA7-01C84D0BB08E}"/>
              </c:ext>
            </c:extLst>
          </c:dPt>
          <c:dPt>
            <c:idx val="2"/>
            <c:invertIfNegative val="0"/>
            <c:bubble3D val="0"/>
            <c:spPr>
              <a:solidFill>
                <a:srgbClr val="6E9DB5"/>
              </a:solidFill>
              <a:effectLst/>
            </c:spPr>
            <c:extLst>
              <c:ext xmlns:c16="http://schemas.microsoft.com/office/drawing/2014/chart" uri="{C3380CC4-5D6E-409C-BE32-E72D297353CC}">
                <c16:uniqueId val="{00000005-9852-419E-ABA7-01C84D0BB08E}"/>
              </c:ext>
            </c:extLst>
          </c:dPt>
          <c:dLbls>
            <c:numFmt formatCode="#,##0" sourceLinked="0"/>
            <c:spPr>
              <a:noFill/>
              <a:ln>
                <a:noFill/>
              </a:ln>
              <a:effectLst/>
            </c:spPr>
            <c:txPr>
              <a:bodyPr/>
              <a:lstStyle/>
              <a:p>
                <a:pPr>
                  <a:defRPr sz="1100" b="0" i="0" u="none" strike="noStrike">
                    <a:solidFill>
                      <a:srgbClr val="3A2A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Sunny</c:v>
                </c:pt>
                <c:pt idx="1">
                  <c:v>Cloudy</c:v>
                </c:pt>
                <c:pt idx="2">
                  <c:v>Rainy</c:v>
                </c:pt>
              </c:strCache>
            </c:strRef>
          </c:cat>
          <c:val>
            <c:numRef>
              <c:f>Sheet1!$B$2:$B$4</c:f>
              <c:numCache>
                <c:formatCode>General</c:formatCode>
                <c:ptCount val="3"/>
                <c:pt idx="0">
                  <c:v>4994</c:v>
                </c:pt>
                <c:pt idx="1">
                  <c:v>5521</c:v>
                </c:pt>
                <c:pt idx="2">
                  <c:v>5851</c:v>
                </c:pt>
              </c:numCache>
            </c:numRef>
          </c:val>
          <c:extLst>
            <c:ext xmlns:c16="http://schemas.microsoft.com/office/drawing/2014/chart" uri="{C3380CC4-5D6E-409C-BE32-E72D297353CC}">
              <c16:uniqueId val="{00000006-9852-419E-ABA7-01C84D0BB08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D8D0C5"/>
            </a:solidFill>
            <a:prstDash val="solid"/>
            <a:round/>
          </a:ln>
        </c:spPr>
        <c:txPr>
          <a:bodyPr/>
          <a:lstStyle/>
          <a:p>
            <a:pPr>
              <a:defRPr sz="1200" b="0" i="0" u="none" strike="noStrike">
                <a:solidFill>
                  <a:srgbClr val="36454F"/>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AF9F6"/>
        </a:solid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Total Revenue</c:v>
                </c:pt>
              </c:strCache>
            </c:strRef>
          </c:tx>
          <c:spPr>
            <a:solidFill>
              <a:srgbClr val="A7BEAE"/>
            </a:solidFill>
            <a:effectLst/>
          </c:spPr>
          <c:invertIfNegative val="0"/>
          <c:dPt>
            <c:idx val="0"/>
            <c:invertIfNegative val="0"/>
            <c:bubble3D val="0"/>
            <c:extLst>
              <c:ext xmlns:c16="http://schemas.microsoft.com/office/drawing/2014/chart" uri="{C3380CC4-5D6E-409C-BE32-E72D297353CC}">
                <c16:uniqueId val="{00000001-67CA-4493-9343-511B21B92AEB}"/>
              </c:ext>
            </c:extLst>
          </c:dPt>
          <c:dPt>
            <c:idx val="1"/>
            <c:invertIfNegative val="0"/>
            <c:bubble3D val="0"/>
            <c:spPr>
              <a:solidFill>
                <a:srgbClr val="B85042"/>
              </a:solidFill>
              <a:effectLst/>
            </c:spPr>
            <c:extLst>
              <c:ext xmlns:c16="http://schemas.microsoft.com/office/drawing/2014/chart" uri="{C3380CC4-5D6E-409C-BE32-E72D297353CC}">
                <c16:uniqueId val="{00000003-67CA-4493-9343-511B21B92AEB}"/>
              </c:ext>
            </c:extLst>
          </c:dPt>
          <c:dPt>
            <c:idx val="2"/>
            <c:invertIfNegative val="0"/>
            <c:bubble3D val="0"/>
            <c:spPr>
              <a:solidFill>
                <a:srgbClr val="B85042"/>
              </a:solidFill>
              <a:effectLst/>
            </c:spPr>
            <c:extLst>
              <c:ext xmlns:c16="http://schemas.microsoft.com/office/drawing/2014/chart" uri="{C3380CC4-5D6E-409C-BE32-E72D297353CC}">
                <c16:uniqueId val="{00000005-67CA-4493-9343-511B21B92AEB}"/>
              </c:ext>
            </c:extLst>
          </c:dPt>
          <c:dPt>
            <c:idx val="3"/>
            <c:invertIfNegative val="0"/>
            <c:bubble3D val="0"/>
            <c:spPr>
              <a:solidFill>
                <a:srgbClr val="D99A5B"/>
              </a:solidFill>
              <a:effectLst/>
            </c:spPr>
            <c:extLst>
              <c:ext xmlns:c16="http://schemas.microsoft.com/office/drawing/2014/chart" uri="{C3380CC4-5D6E-409C-BE32-E72D297353CC}">
                <c16:uniqueId val="{00000007-67CA-4493-9343-511B21B92AEB}"/>
              </c:ext>
            </c:extLst>
          </c:dPt>
          <c:dPt>
            <c:idx val="4"/>
            <c:invertIfNegative val="0"/>
            <c:bubble3D val="0"/>
            <c:extLst>
              <c:ext xmlns:c16="http://schemas.microsoft.com/office/drawing/2014/chart" uri="{C3380CC4-5D6E-409C-BE32-E72D297353CC}">
                <c16:uniqueId val="{00000009-67CA-4493-9343-511B21B92AEB}"/>
              </c:ext>
            </c:extLst>
          </c:dPt>
          <c:dPt>
            <c:idx val="5"/>
            <c:invertIfNegative val="0"/>
            <c:bubble3D val="0"/>
            <c:extLst>
              <c:ext xmlns:c16="http://schemas.microsoft.com/office/drawing/2014/chart" uri="{C3380CC4-5D6E-409C-BE32-E72D297353CC}">
                <c16:uniqueId val="{0000000B-67CA-4493-9343-511B21B92AEB}"/>
              </c:ext>
            </c:extLst>
          </c:dPt>
          <c:dLbls>
            <c:numFmt formatCode="#,##0" sourceLinked="0"/>
            <c:spPr>
              <a:noFill/>
              <a:ln>
                <a:noFill/>
              </a:ln>
              <a:effectLst/>
            </c:spPr>
            <c:txPr>
              <a:bodyPr/>
              <a:lstStyle/>
              <a:p>
                <a:pPr>
                  <a:defRPr sz="1000" b="0" i="0" u="none" strike="noStrike">
                    <a:solidFill>
                      <a:srgbClr val="3A2A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Jollof &amp; Chicken</c:v>
                </c:pt>
                <c:pt idx="1">
                  <c:v>Fufu &amp; Light Soup</c:v>
                </c:pt>
                <c:pt idx="2">
                  <c:v>Banku &amp; Fish</c:v>
                </c:pt>
                <c:pt idx="3">
                  <c:v>Grilled Tilapia</c:v>
                </c:pt>
                <c:pt idx="4">
                  <c:v>Fried Rice &amp; Beef</c:v>
                </c:pt>
                <c:pt idx="5">
                  <c:v>Waakye</c:v>
                </c:pt>
              </c:strCache>
            </c:strRef>
          </c:cat>
          <c:val>
            <c:numRef>
              <c:f>Sheet1!$B$2:$B$7</c:f>
              <c:numCache>
                <c:formatCode>General</c:formatCode>
                <c:ptCount val="6"/>
                <c:pt idx="0">
                  <c:v>288300</c:v>
                </c:pt>
                <c:pt idx="1">
                  <c:v>269000</c:v>
                </c:pt>
                <c:pt idx="2">
                  <c:v>245300</c:v>
                </c:pt>
                <c:pt idx="3">
                  <c:v>204900</c:v>
                </c:pt>
                <c:pt idx="4">
                  <c:v>164400</c:v>
                </c:pt>
                <c:pt idx="5">
                  <c:v>144300</c:v>
                </c:pt>
              </c:numCache>
            </c:numRef>
          </c:val>
          <c:extLst>
            <c:ext xmlns:c16="http://schemas.microsoft.com/office/drawing/2014/chart" uri="{C3380CC4-5D6E-409C-BE32-E72D297353CC}">
              <c16:uniqueId val="{0000000C-67CA-4493-9343-511B21B92AE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D8D0C5"/>
            </a:solidFill>
            <a:prstDash val="solid"/>
            <a:round/>
          </a:ln>
        </c:spPr>
        <c:txPr>
          <a:bodyPr/>
          <a:lstStyle/>
          <a:p>
            <a:pPr>
              <a:defRPr sz="1150" b="0" i="0" u="none" strike="noStrike">
                <a:solidFill>
                  <a:srgbClr val="36454F"/>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AF9F6"/>
        </a:solid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Avg Feedback</c:v>
                </c:pt>
              </c:strCache>
            </c:strRef>
          </c:tx>
          <c:spPr>
            <a:ln w="38100" cap="flat">
              <a:solidFill>
                <a:srgbClr val="B85042"/>
              </a:solidFill>
              <a:prstDash val="solid"/>
              <a:round/>
            </a:ln>
            <a:effectLst/>
          </c:spPr>
          <c:marker>
            <c:symbol val="circle"/>
            <c:size val="8"/>
            <c:spPr>
              <a:solidFill>
                <a:srgbClr val="B85042"/>
              </a:solidFill>
              <a:ln w="9525" cap="flat">
                <a:solidFill>
                  <a:srgbClr val="B85042"/>
                </a:solidFill>
                <a:prstDash val="solid"/>
                <a:round/>
              </a:ln>
              <a:effectLst/>
            </c:spPr>
          </c:marker>
          <c:dLbls>
            <c:numFmt formatCode="0.0" sourceLinked="0"/>
            <c:spPr>
              <a:noFill/>
              <a:ln>
                <a:noFill/>
              </a:ln>
              <a:effectLst/>
            </c:spPr>
            <c:txPr>
              <a:bodyPr/>
              <a:lstStyle/>
              <a:p>
                <a:pPr>
                  <a:defRPr sz="1100" b="0" i="0" u="none" strike="noStrike">
                    <a:solidFill>
                      <a:srgbClr val="3A2A22"/>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4.2</c:v>
                </c:pt>
                <c:pt idx="1">
                  <c:v>4.5</c:v>
                </c:pt>
                <c:pt idx="2">
                  <c:v>4.5</c:v>
                </c:pt>
                <c:pt idx="3">
                  <c:v>4.3</c:v>
                </c:pt>
                <c:pt idx="4">
                  <c:v>4.7</c:v>
                </c:pt>
                <c:pt idx="5">
                  <c:v>4.8</c:v>
                </c:pt>
                <c:pt idx="6">
                  <c:v>4.7</c:v>
                </c:pt>
              </c:numCache>
            </c:numRef>
          </c:val>
          <c:smooth val="0"/>
          <c:extLst>
            <c:ext xmlns:c16="http://schemas.microsoft.com/office/drawing/2014/chart" uri="{C3380CC4-5D6E-409C-BE32-E72D297353CC}">
              <c16:uniqueId val="{00000000-4E59-44ED-8B79-65499188B315}"/>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D8D0C5"/>
            </a:solidFill>
            <a:prstDash val="solid"/>
            <a:round/>
          </a:ln>
        </c:spPr>
        <c:txPr>
          <a:bodyPr/>
          <a:lstStyle/>
          <a:p>
            <a:pPr>
              <a:defRPr sz="1200" b="0" i="0" u="none" strike="noStrike">
                <a:solidFill>
                  <a:srgbClr val="36454F"/>
                </a:solidFill>
                <a:latin typeface="Arial"/>
              </a:defRPr>
            </a:pPr>
            <a:endParaRPr lang="en-US"/>
          </a:p>
        </c:txPr>
        <c:crossAx val="2094734552"/>
        <c:crosses val="autoZero"/>
        <c:auto val="1"/>
        <c:lblAlgn val="ctr"/>
        <c:lblOffset val="100"/>
        <c:noMultiLvlLbl val="1"/>
      </c:catAx>
      <c:valAx>
        <c:axId val="2094734552"/>
        <c:scaling>
          <c:orientation val="minMax"/>
          <c:max val="5"/>
          <c:min val="3.8"/>
        </c:scaling>
        <c:delete val="1"/>
        <c:axPos val="l"/>
        <c:numFmt formatCode="General" sourceLinked="0"/>
        <c:majorTickMark val="out"/>
        <c:minorTickMark val="none"/>
        <c:tickLblPos val="nextTo"/>
        <c:crossAx val="2094734554"/>
        <c:crosses val="autoZero"/>
        <c:crossBetween val="between"/>
      </c:valAx>
      <c:spPr>
        <a:solidFill>
          <a:srgbClr val="FAF9F6"/>
        </a:solidFill>
        <a:ln>
          <a:noFill/>
        </a:ln>
        <a:effectLst/>
      </c:spPr>
    </c:plotArea>
    <c:plotVisOnly val="1"/>
    <c:dispBlanksAs val="span"/>
    <c:showDLblsOverMax val="1"/>
  </c:chart>
  <c:spPr>
    <a:noFill/>
    <a:ln>
      <a:noFill/>
    </a:ln>
    <a:effectLst/>
  </c:sp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169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panel. Introduce yourself as the Data Analyst who reviewed six months of magudie's sales, customer, weather, promotion and feedback data. Set the goal: understand what's driving the swings in daily sales and recommend concrete actions. Total time: ~10 minutes, then Q&amp;A.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numbers: GHS 1.35M in total revenue over 250 days, averaging GHS 5,413/day and 133 customers/day, with a strong 4.52/5 average feedback score. Briefly explain the methodology: raw logs were consolidated into a SQL database, cleaned, and connected to Power BI so trends could be sliced by day, promotion, weather and dish. This is the foundation for everything that follows.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tracks sales and customer traffic — busier, better-promoted days also score higher on satisfaction, not just revenue. The nine days that scored below 4.0 all fall on Monday or Thursday with no promotion running, which lines up exactly with the weak-day pattern from earlier. Improving those two days should lift both revenue and satisfaction together.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climb steadily through the week and peak on Saturday and Sunday, which bring in roughly double Monday's revenue and customer count. Monday is consistently the weakest day across sales, customers and feedback. This weekly rhythm is the single clearest pattern in the data and sets up the recommendations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Promotions clearly work: promo days average about 10% higher sales and better feedback. Weather turns out not to hurt business — rainy days actually average the highest sales, mostly because rainy days in this dataset cluster on the strong weekend days rather than weather driving behavior directly. The real opportunity is timing: promotions are currently concentrated on already-strong days rather than propping up weak ones.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Fufu &amp; Light Soup and Banku &amp; Fish generate the most revenue per day they're featured, both tied to weekend menus. Jollof &amp; Chicken is served most frequently, on Monday and Thursday, but earns the least per day — reinforcing that those two days need attention, whether through menu rotation, bundling or promotion.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tracks sales and customer traffic — busier, better-promoted days also score higher on satisfaction, not just revenue. The nine days that scored below 4.0 all fall on Monday or Thursday with no promotion running, which lines up exactly with the weak-day pattern from earlier. Improving those two days should lift both revenue and satisfaction together.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468918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recommendation: (1) reallocate promotions to Monday and Thursday instead of days that are already strong; (2) rotate or bundle the Monday/Thursday menu so Jollof &amp; Chicken isn't the only option on the weakest days; (3) stand up a live Power BI dashboard so dips in sales or feedback are caught within 48 hours instead of being found six months later in a report like this one.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2A22"/>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B85042">
              <a:alpha val="30000"/>
            </a:srgbClr>
          </a:solidFill>
          <a:ln/>
        </p:spPr>
      </p:sp>
      <p:sp>
        <p:nvSpPr>
          <p:cNvPr id="3" name="Shape 1"/>
          <p:cNvSpPr/>
          <p:nvPr/>
        </p:nvSpPr>
        <p:spPr>
          <a:xfrm>
            <a:off x="-1828800" y="4572000"/>
            <a:ext cx="4572000" cy="4572000"/>
          </a:xfrm>
          <a:prstGeom prst="ellipse">
            <a:avLst/>
          </a:prstGeom>
          <a:solidFill>
            <a:srgbClr val="D99A5B">
              <a:alpha val="20000"/>
            </a:srgbClr>
          </a:solidFill>
          <a:ln/>
        </p:spPr>
      </p:sp>
      <p:sp>
        <p:nvSpPr>
          <p:cNvPr id="4" name="Text 2"/>
          <p:cNvSpPr/>
          <p:nvPr/>
        </p:nvSpPr>
        <p:spPr>
          <a:xfrm>
            <a:off x="731520" y="1737360"/>
            <a:ext cx="7315200" cy="548640"/>
          </a:xfrm>
          <a:prstGeom prst="rect">
            <a:avLst/>
          </a:prstGeom>
          <a:noFill/>
          <a:ln/>
        </p:spPr>
        <p:txBody>
          <a:bodyPr wrap="square" rtlCol="0" anchor="ctr"/>
          <a:lstStyle/>
          <a:p>
            <a:pPr marL="0" indent="0">
              <a:buNone/>
            </a:pPr>
            <a:r>
              <a:rPr lang="en-US" sz="4000" b="1" kern="0" spc="400" dirty="0">
                <a:solidFill>
                  <a:srgbClr val="D99A5B"/>
                </a:solidFill>
                <a:latin typeface="Calibri" pitchFamily="34" charset="0"/>
                <a:ea typeface="Calibri" pitchFamily="34" charset="-122"/>
                <a:cs typeface="Calibri" pitchFamily="34" charset="-120"/>
              </a:rPr>
              <a:t>Tasty Bites</a:t>
            </a:r>
            <a:endParaRPr lang="en-US" sz="4000" dirty="0"/>
          </a:p>
        </p:txBody>
      </p:sp>
      <p:sp>
        <p:nvSpPr>
          <p:cNvPr id="5" name="Text 3"/>
          <p:cNvSpPr/>
          <p:nvPr/>
        </p:nvSpPr>
        <p:spPr>
          <a:xfrm>
            <a:off x="731520" y="2446020"/>
            <a:ext cx="9601200" cy="8001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Sales &amp; Customer Insights</a:t>
            </a:r>
            <a:endParaRPr lang="en-US" sz="3200" dirty="0"/>
          </a:p>
        </p:txBody>
      </p:sp>
      <p:sp>
        <p:nvSpPr>
          <p:cNvPr id="6" name="Text 4"/>
          <p:cNvSpPr/>
          <p:nvPr/>
        </p:nvSpPr>
        <p:spPr>
          <a:xfrm>
            <a:off x="731520" y="3474720"/>
            <a:ext cx="7772400" cy="731520"/>
          </a:xfrm>
          <a:prstGeom prst="rect">
            <a:avLst/>
          </a:prstGeom>
          <a:noFill/>
          <a:ln/>
        </p:spPr>
        <p:txBody>
          <a:bodyPr wrap="square" rtlCol="0" anchor="ctr"/>
          <a:lstStyle/>
          <a:p>
            <a:pPr marL="0" indent="0">
              <a:buNone/>
            </a:pPr>
            <a:r>
              <a:rPr lang="en-US" sz="1600" i="1" dirty="0">
                <a:solidFill>
                  <a:srgbClr val="E7E8D1"/>
                </a:solidFill>
                <a:latin typeface="Calibri" pitchFamily="34" charset="0"/>
                <a:ea typeface="Calibri" pitchFamily="34" charset="-122"/>
                <a:cs typeface="Calibri" pitchFamily="34" charset="-120"/>
              </a:rPr>
              <a:t>Eight months of sales and customer data, decoded — what's driving revenue, what's holding it back, and where to focus next.</a:t>
            </a:r>
            <a:endParaRPr lang="en-US" sz="1600" dirty="0"/>
          </a:p>
        </p:txBody>
      </p:sp>
      <p:sp>
        <p:nvSpPr>
          <p:cNvPr id="7" name="Text 5"/>
          <p:cNvSpPr/>
          <p:nvPr/>
        </p:nvSpPr>
        <p:spPr>
          <a:xfrm>
            <a:off x="731520" y="5943600"/>
            <a:ext cx="8229600" cy="365760"/>
          </a:xfrm>
          <a:prstGeom prst="rect">
            <a:avLst/>
          </a:prstGeom>
          <a:noFill/>
          <a:ln/>
        </p:spPr>
        <p:txBody>
          <a:bodyPr wrap="square" rtlCol="0" anchor="ctr"/>
          <a:lstStyle/>
          <a:p>
            <a:pPr marL="0" indent="0">
              <a:buNone/>
            </a:pPr>
            <a:r>
              <a:rPr lang="en-US" sz="1200" dirty="0">
                <a:solidFill>
                  <a:srgbClr val="C9C0B8"/>
                </a:solidFill>
                <a:latin typeface="Calibri" pitchFamily="34" charset="0"/>
                <a:ea typeface="Calibri" pitchFamily="34" charset="-122"/>
                <a:cs typeface="Calibri" pitchFamily="34" charset="-120"/>
              </a:rPr>
              <a:t>Prepared for the Management Team  |  Data Analysis Presentation by Rebecca Sarpong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rtlCol="0" anchor="ctr"/>
          <a:lstStyle/>
          <a:p>
            <a:pPr marL="0" indent="0">
              <a:buNone/>
            </a:pPr>
            <a:r>
              <a:rPr lang="en-US" sz="3000" b="1" dirty="0">
                <a:solidFill>
                  <a:srgbClr val="3A2A22"/>
                </a:solidFill>
                <a:latin typeface="Cambria" pitchFamily="34" charset="0"/>
                <a:ea typeface="Cambria" pitchFamily="34" charset="-122"/>
                <a:cs typeface="Cambria" pitchFamily="34" charset="-120"/>
              </a:rPr>
              <a:t>Eight Months at a Glance</a:t>
            </a:r>
            <a:endParaRPr lang="en-US" sz="3000" dirty="0"/>
          </a:p>
        </p:txBody>
      </p:sp>
      <p:sp>
        <p:nvSpPr>
          <p:cNvPr id="3" name="Text 1"/>
          <p:cNvSpPr/>
          <p:nvPr/>
        </p:nvSpPr>
        <p:spPr>
          <a:xfrm>
            <a:off x="548640" y="1051560"/>
            <a:ext cx="10515600" cy="457200"/>
          </a:xfrm>
          <a:prstGeom prst="rect">
            <a:avLst/>
          </a:prstGeom>
          <a:noFill/>
          <a:ln/>
        </p:spPr>
        <p:txBody>
          <a:bodyPr wrap="square" rtlCol="0" anchor="ctr"/>
          <a:lstStyle/>
          <a:p>
            <a:pPr marL="0" indent="0">
              <a:buNone/>
            </a:pPr>
            <a:r>
              <a:rPr lang="en-US" sz="1400" dirty="0">
                <a:solidFill>
                  <a:srgbClr val="36454F"/>
                </a:solidFill>
                <a:latin typeface="Calibri" pitchFamily="34" charset="0"/>
                <a:ea typeface="Calibri" pitchFamily="34" charset="-122"/>
                <a:cs typeface="Calibri" pitchFamily="34" charset="-120"/>
              </a:rPr>
              <a:t>243 days of sales, customer, weather, promotion and feedback data — consolidated into  MySQL database and analyzed in Power BI.</a:t>
            </a:r>
            <a:endParaRPr lang="en-US" sz="1400" dirty="0"/>
          </a:p>
        </p:txBody>
      </p:sp>
      <p:sp>
        <p:nvSpPr>
          <p:cNvPr id="4" name="Shape 2"/>
          <p:cNvSpPr/>
          <p:nvPr/>
        </p:nvSpPr>
        <p:spPr>
          <a:xfrm>
            <a:off x="548640" y="1783080"/>
            <a:ext cx="2514600" cy="1737360"/>
          </a:xfrm>
          <a:prstGeom prst="roundRect">
            <a:avLst>
              <a:gd name="adj" fmla="val 5263"/>
            </a:avLst>
          </a:prstGeom>
          <a:solidFill>
            <a:srgbClr val="FFFFFF"/>
          </a:solidFill>
          <a:ln w="12700">
            <a:solidFill>
              <a:srgbClr val="E3DCD3"/>
            </a:solidFill>
            <a:prstDash val="solid"/>
          </a:ln>
          <a:effectLst>
            <a:outerShdw blurRad="76200" dist="25400" dir="5400000" algn="bl" rotWithShape="0">
              <a:srgbClr val="000000">
                <a:alpha val="12000"/>
              </a:srgbClr>
            </a:outerShdw>
          </a:effectLst>
        </p:spPr>
      </p:sp>
      <p:sp>
        <p:nvSpPr>
          <p:cNvPr id="5" name="Text 3"/>
          <p:cNvSpPr/>
          <p:nvPr/>
        </p:nvSpPr>
        <p:spPr>
          <a:xfrm>
            <a:off x="548640" y="1965960"/>
            <a:ext cx="2514600" cy="640080"/>
          </a:xfrm>
          <a:prstGeom prst="rect">
            <a:avLst/>
          </a:prstGeom>
          <a:noFill/>
          <a:ln/>
        </p:spPr>
        <p:txBody>
          <a:bodyPr wrap="square" rtlCol="0" anchor="ctr"/>
          <a:lstStyle/>
          <a:p>
            <a:pPr marL="0" indent="0" algn="ctr">
              <a:buNone/>
            </a:pPr>
            <a:r>
              <a:rPr lang="en-US" sz="2600" b="1" dirty="0">
                <a:solidFill>
                  <a:srgbClr val="B85042"/>
                </a:solidFill>
                <a:latin typeface="Cambria" pitchFamily="34" charset="0"/>
                <a:ea typeface="Cambria" pitchFamily="34" charset="-122"/>
                <a:cs typeface="Cambria" pitchFamily="34" charset="-120"/>
              </a:rPr>
              <a:t>GHS 1.32M</a:t>
            </a:r>
            <a:endParaRPr lang="en-US" sz="2600" dirty="0"/>
          </a:p>
        </p:txBody>
      </p:sp>
      <p:sp>
        <p:nvSpPr>
          <p:cNvPr id="6" name="Text 4"/>
          <p:cNvSpPr/>
          <p:nvPr/>
        </p:nvSpPr>
        <p:spPr>
          <a:xfrm>
            <a:off x="548640" y="2606040"/>
            <a:ext cx="2514600" cy="320040"/>
          </a:xfrm>
          <a:prstGeom prst="rect">
            <a:avLst/>
          </a:prstGeom>
          <a:noFill/>
          <a:ln/>
        </p:spPr>
        <p:txBody>
          <a:bodyPr wrap="square" rtlCol="0" anchor="ctr"/>
          <a:lstStyle/>
          <a:p>
            <a:pPr marL="0" indent="0" algn="ctr">
              <a:buNone/>
            </a:pPr>
            <a:r>
              <a:rPr lang="en-US" sz="1300" b="1" dirty="0">
                <a:solidFill>
                  <a:srgbClr val="3A2A22"/>
                </a:solidFill>
                <a:latin typeface="Calibri" pitchFamily="34" charset="0"/>
                <a:ea typeface="Calibri" pitchFamily="34" charset="-122"/>
                <a:cs typeface="Calibri" pitchFamily="34" charset="-120"/>
              </a:rPr>
              <a:t>Total Revenue</a:t>
            </a:r>
            <a:endParaRPr lang="en-US" sz="1300" dirty="0"/>
          </a:p>
        </p:txBody>
      </p:sp>
      <p:sp>
        <p:nvSpPr>
          <p:cNvPr id="7" name="Text 5"/>
          <p:cNvSpPr/>
          <p:nvPr/>
        </p:nvSpPr>
        <p:spPr>
          <a:xfrm>
            <a:off x="548640" y="2926080"/>
            <a:ext cx="2514600" cy="457200"/>
          </a:xfrm>
          <a:prstGeom prst="rect">
            <a:avLst/>
          </a:prstGeom>
          <a:noFill/>
          <a:ln/>
        </p:spPr>
        <p:txBody>
          <a:bodyPr wrap="square"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across 243 trading days</a:t>
            </a:r>
            <a:endParaRPr lang="en-US" sz="1000" dirty="0"/>
          </a:p>
        </p:txBody>
      </p:sp>
      <p:sp>
        <p:nvSpPr>
          <p:cNvPr id="8" name="Shape 6"/>
          <p:cNvSpPr/>
          <p:nvPr/>
        </p:nvSpPr>
        <p:spPr>
          <a:xfrm>
            <a:off x="3383280" y="1783080"/>
            <a:ext cx="2514600" cy="1737360"/>
          </a:xfrm>
          <a:prstGeom prst="roundRect">
            <a:avLst>
              <a:gd name="adj" fmla="val 5263"/>
            </a:avLst>
          </a:prstGeom>
          <a:solidFill>
            <a:srgbClr val="FFFFFF"/>
          </a:solidFill>
          <a:ln w="12700">
            <a:solidFill>
              <a:srgbClr val="E3DCD3"/>
            </a:solidFill>
            <a:prstDash val="solid"/>
          </a:ln>
          <a:effectLst>
            <a:outerShdw blurRad="76200" dist="25400" dir="5400000" algn="bl" rotWithShape="0">
              <a:srgbClr val="000000">
                <a:alpha val="12000"/>
              </a:srgbClr>
            </a:outerShdw>
          </a:effectLst>
        </p:spPr>
        <p:txBody>
          <a:bodyPr/>
          <a:lstStyle/>
          <a:p>
            <a:endParaRPr lang="en-GB"/>
          </a:p>
        </p:txBody>
      </p:sp>
      <p:sp>
        <p:nvSpPr>
          <p:cNvPr id="9" name="Text 7"/>
          <p:cNvSpPr/>
          <p:nvPr/>
        </p:nvSpPr>
        <p:spPr>
          <a:xfrm>
            <a:off x="3383280" y="1965960"/>
            <a:ext cx="2514600" cy="640080"/>
          </a:xfrm>
          <a:prstGeom prst="rect">
            <a:avLst/>
          </a:prstGeom>
          <a:noFill/>
          <a:ln/>
        </p:spPr>
        <p:txBody>
          <a:bodyPr wrap="square" rtlCol="0" anchor="ctr"/>
          <a:lstStyle/>
          <a:p>
            <a:pPr marL="0" indent="0" algn="ctr">
              <a:buNone/>
            </a:pPr>
            <a:r>
              <a:rPr lang="en-US" sz="2600" b="1" dirty="0">
                <a:solidFill>
                  <a:srgbClr val="B85042"/>
                </a:solidFill>
                <a:latin typeface="Cambria" pitchFamily="34" charset="0"/>
                <a:ea typeface="Cambria" pitchFamily="34" charset="-122"/>
                <a:cs typeface="Cambria" pitchFamily="34" charset="-120"/>
              </a:rPr>
              <a:t>GHS 5,416.00</a:t>
            </a:r>
            <a:endParaRPr lang="en-US" sz="2600" dirty="0"/>
          </a:p>
        </p:txBody>
      </p:sp>
      <p:sp>
        <p:nvSpPr>
          <p:cNvPr id="10" name="Text 8"/>
          <p:cNvSpPr/>
          <p:nvPr/>
        </p:nvSpPr>
        <p:spPr>
          <a:xfrm>
            <a:off x="3383280" y="2606040"/>
            <a:ext cx="2514600" cy="320040"/>
          </a:xfrm>
          <a:prstGeom prst="rect">
            <a:avLst/>
          </a:prstGeom>
          <a:noFill/>
          <a:ln/>
        </p:spPr>
        <p:txBody>
          <a:bodyPr wrap="square" rtlCol="0" anchor="ctr"/>
          <a:lstStyle/>
          <a:p>
            <a:pPr marL="0" indent="0" algn="ctr">
              <a:buNone/>
            </a:pPr>
            <a:r>
              <a:rPr lang="en-US" sz="1300" b="1" dirty="0">
                <a:solidFill>
                  <a:srgbClr val="3A2A22"/>
                </a:solidFill>
                <a:latin typeface="Calibri" pitchFamily="34" charset="0"/>
                <a:ea typeface="Calibri" pitchFamily="34" charset="-122"/>
                <a:cs typeface="Calibri" pitchFamily="34" charset="-120"/>
              </a:rPr>
              <a:t>Avg. Daily Sales</a:t>
            </a:r>
            <a:endParaRPr lang="en-US" sz="1300" dirty="0"/>
          </a:p>
        </p:txBody>
      </p:sp>
      <p:sp>
        <p:nvSpPr>
          <p:cNvPr id="11" name="Text 9"/>
          <p:cNvSpPr/>
          <p:nvPr/>
        </p:nvSpPr>
        <p:spPr>
          <a:xfrm>
            <a:off x="3383280" y="2926080"/>
            <a:ext cx="2514600" cy="457200"/>
          </a:xfrm>
          <a:prstGeom prst="rect">
            <a:avLst/>
          </a:prstGeom>
          <a:noFill/>
          <a:ln/>
        </p:spPr>
        <p:txBody>
          <a:bodyPr wrap="square" rtlCol="0" anchor="ctr"/>
          <a:lstStyle/>
          <a:p>
            <a:pPr marL="0" indent="0" algn="ctr">
              <a:buNone/>
            </a:pPr>
            <a:endParaRPr lang="en-US" sz="1000" dirty="0"/>
          </a:p>
        </p:txBody>
      </p:sp>
      <p:sp>
        <p:nvSpPr>
          <p:cNvPr id="12" name="Shape 10"/>
          <p:cNvSpPr/>
          <p:nvPr/>
        </p:nvSpPr>
        <p:spPr>
          <a:xfrm>
            <a:off x="6217920" y="1783080"/>
            <a:ext cx="2514600" cy="1737360"/>
          </a:xfrm>
          <a:prstGeom prst="roundRect">
            <a:avLst>
              <a:gd name="adj" fmla="val 5263"/>
            </a:avLst>
          </a:prstGeom>
          <a:solidFill>
            <a:srgbClr val="FFFFFF"/>
          </a:solidFill>
          <a:ln w="12700">
            <a:solidFill>
              <a:srgbClr val="E3DCD3"/>
            </a:solidFill>
            <a:prstDash val="solid"/>
          </a:ln>
          <a:effectLst>
            <a:outerShdw blurRad="76200" dist="25400" dir="5400000" algn="bl" rotWithShape="0">
              <a:srgbClr val="000000">
                <a:alpha val="12000"/>
              </a:srgbClr>
            </a:outerShdw>
          </a:effectLst>
        </p:spPr>
      </p:sp>
      <p:sp>
        <p:nvSpPr>
          <p:cNvPr id="13" name="Text 11"/>
          <p:cNvSpPr/>
          <p:nvPr/>
        </p:nvSpPr>
        <p:spPr>
          <a:xfrm>
            <a:off x="6217920" y="1965960"/>
            <a:ext cx="2514600" cy="640080"/>
          </a:xfrm>
          <a:prstGeom prst="rect">
            <a:avLst/>
          </a:prstGeom>
          <a:noFill/>
          <a:ln/>
        </p:spPr>
        <p:txBody>
          <a:bodyPr wrap="square" rtlCol="0" anchor="ctr"/>
          <a:lstStyle/>
          <a:p>
            <a:pPr marL="0" indent="0" algn="ctr">
              <a:buNone/>
            </a:pPr>
            <a:r>
              <a:rPr lang="en-US" sz="2600" b="1" dirty="0">
                <a:solidFill>
                  <a:srgbClr val="B85042"/>
                </a:solidFill>
                <a:latin typeface="Cambria" pitchFamily="34" charset="0"/>
                <a:ea typeface="Cambria" pitchFamily="34" charset="-122"/>
                <a:cs typeface="Cambria" pitchFamily="34" charset="-120"/>
              </a:rPr>
              <a:t>133</a:t>
            </a:r>
            <a:endParaRPr lang="en-US" sz="2600" dirty="0"/>
          </a:p>
        </p:txBody>
      </p:sp>
      <p:sp>
        <p:nvSpPr>
          <p:cNvPr id="14" name="Text 12"/>
          <p:cNvSpPr/>
          <p:nvPr/>
        </p:nvSpPr>
        <p:spPr>
          <a:xfrm>
            <a:off x="6217920" y="2606040"/>
            <a:ext cx="2514600" cy="320040"/>
          </a:xfrm>
          <a:prstGeom prst="rect">
            <a:avLst/>
          </a:prstGeom>
          <a:noFill/>
          <a:ln/>
        </p:spPr>
        <p:txBody>
          <a:bodyPr wrap="square" rtlCol="0" anchor="ctr"/>
          <a:lstStyle/>
          <a:p>
            <a:pPr marL="0" indent="0" algn="ctr">
              <a:buNone/>
            </a:pPr>
            <a:r>
              <a:rPr lang="en-US" sz="1300" b="1" dirty="0">
                <a:solidFill>
                  <a:srgbClr val="3A2A22"/>
                </a:solidFill>
                <a:latin typeface="Calibri" pitchFamily="34" charset="0"/>
                <a:ea typeface="Calibri" pitchFamily="34" charset="-122"/>
                <a:cs typeface="Calibri" pitchFamily="34" charset="-120"/>
              </a:rPr>
              <a:t>Avg. Daily Customers</a:t>
            </a:r>
            <a:endParaRPr lang="en-US" sz="1300" dirty="0"/>
          </a:p>
        </p:txBody>
      </p:sp>
      <p:sp>
        <p:nvSpPr>
          <p:cNvPr id="15" name="Text 13"/>
          <p:cNvSpPr/>
          <p:nvPr/>
        </p:nvSpPr>
        <p:spPr>
          <a:xfrm>
            <a:off x="6217920" y="2926080"/>
            <a:ext cx="2514600" cy="457200"/>
          </a:xfrm>
          <a:prstGeom prst="rect">
            <a:avLst/>
          </a:prstGeom>
          <a:noFill/>
          <a:ln/>
        </p:spPr>
        <p:txBody>
          <a:bodyPr wrap="square"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65 – 226 range</a:t>
            </a:r>
            <a:endParaRPr lang="en-US" sz="1000" dirty="0"/>
          </a:p>
        </p:txBody>
      </p:sp>
      <p:sp>
        <p:nvSpPr>
          <p:cNvPr id="16" name="Shape 14"/>
          <p:cNvSpPr/>
          <p:nvPr/>
        </p:nvSpPr>
        <p:spPr>
          <a:xfrm>
            <a:off x="9052560" y="1783080"/>
            <a:ext cx="2514600" cy="1737360"/>
          </a:xfrm>
          <a:prstGeom prst="roundRect">
            <a:avLst>
              <a:gd name="adj" fmla="val 5263"/>
            </a:avLst>
          </a:prstGeom>
          <a:solidFill>
            <a:srgbClr val="FFFFFF"/>
          </a:solidFill>
          <a:ln w="12700">
            <a:solidFill>
              <a:srgbClr val="E3DCD3"/>
            </a:solidFill>
            <a:prstDash val="solid"/>
          </a:ln>
          <a:effectLst>
            <a:outerShdw blurRad="76200" dist="25400" dir="5400000" algn="bl" rotWithShape="0">
              <a:srgbClr val="000000">
                <a:alpha val="12000"/>
              </a:srgbClr>
            </a:outerShdw>
          </a:effectLst>
        </p:spPr>
      </p:sp>
      <p:sp>
        <p:nvSpPr>
          <p:cNvPr id="17" name="Text 15"/>
          <p:cNvSpPr/>
          <p:nvPr/>
        </p:nvSpPr>
        <p:spPr>
          <a:xfrm>
            <a:off x="9052560" y="1965960"/>
            <a:ext cx="2514600" cy="640080"/>
          </a:xfrm>
          <a:prstGeom prst="rect">
            <a:avLst/>
          </a:prstGeom>
          <a:noFill/>
          <a:ln/>
        </p:spPr>
        <p:txBody>
          <a:bodyPr wrap="square" rtlCol="0" anchor="ctr"/>
          <a:lstStyle/>
          <a:p>
            <a:pPr marL="0" indent="0" algn="ctr">
              <a:buNone/>
            </a:pPr>
            <a:r>
              <a:rPr lang="en-US" sz="2600" b="1" dirty="0">
                <a:solidFill>
                  <a:srgbClr val="B85042"/>
                </a:solidFill>
                <a:latin typeface="Cambria" pitchFamily="34" charset="0"/>
                <a:ea typeface="Cambria" pitchFamily="34" charset="-122"/>
                <a:cs typeface="Cambria" pitchFamily="34" charset="-120"/>
              </a:rPr>
              <a:t>4.53 / 5</a:t>
            </a:r>
            <a:endParaRPr lang="en-US" sz="2600" dirty="0"/>
          </a:p>
        </p:txBody>
      </p:sp>
      <p:sp>
        <p:nvSpPr>
          <p:cNvPr id="18" name="Text 16"/>
          <p:cNvSpPr/>
          <p:nvPr/>
        </p:nvSpPr>
        <p:spPr>
          <a:xfrm>
            <a:off x="9052560" y="2606040"/>
            <a:ext cx="2514600" cy="320040"/>
          </a:xfrm>
          <a:prstGeom prst="rect">
            <a:avLst/>
          </a:prstGeom>
          <a:noFill/>
          <a:ln/>
        </p:spPr>
        <p:txBody>
          <a:bodyPr wrap="square" rtlCol="0" anchor="ctr"/>
          <a:lstStyle/>
          <a:p>
            <a:pPr marL="0" indent="0" algn="ctr">
              <a:buNone/>
            </a:pPr>
            <a:r>
              <a:rPr lang="en-US" sz="1300" b="1" dirty="0">
                <a:solidFill>
                  <a:srgbClr val="3A2A22"/>
                </a:solidFill>
                <a:latin typeface="Calibri" pitchFamily="34" charset="0"/>
                <a:ea typeface="Calibri" pitchFamily="34" charset="-122"/>
                <a:cs typeface="Calibri" pitchFamily="34" charset="-120"/>
              </a:rPr>
              <a:t>Avg. Feedback Score</a:t>
            </a:r>
            <a:endParaRPr lang="en-US" sz="1300" dirty="0"/>
          </a:p>
        </p:txBody>
      </p:sp>
      <p:sp>
        <p:nvSpPr>
          <p:cNvPr id="19" name="Text 17"/>
          <p:cNvSpPr/>
          <p:nvPr/>
        </p:nvSpPr>
        <p:spPr>
          <a:xfrm>
            <a:off x="9052560" y="2926080"/>
            <a:ext cx="2514600" cy="457200"/>
          </a:xfrm>
          <a:prstGeom prst="rect">
            <a:avLst/>
          </a:prstGeom>
          <a:noFill/>
          <a:ln/>
        </p:spPr>
        <p:txBody>
          <a:bodyPr wrap="square"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3 meals scored below 4.53</a:t>
            </a:r>
            <a:endParaRPr lang="en-US" sz="1000" dirty="0"/>
          </a:p>
        </p:txBody>
      </p:sp>
      <p:sp>
        <p:nvSpPr>
          <p:cNvPr id="20" name="Shape 18"/>
          <p:cNvSpPr/>
          <p:nvPr/>
        </p:nvSpPr>
        <p:spPr>
          <a:xfrm>
            <a:off x="548640" y="3977640"/>
            <a:ext cx="11064240" cy="2148840"/>
          </a:xfrm>
          <a:prstGeom prst="roundRect">
            <a:avLst>
              <a:gd name="adj" fmla="val 3404"/>
            </a:avLst>
          </a:prstGeom>
          <a:solidFill>
            <a:srgbClr val="E7E8D1"/>
          </a:solidFill>
          <a:ln/>
        </p:spPr>
      </p:sp>
      <p:sp>
        <p:nvSpPr>
          <p:cNvPr id="21" name="Text 19"/>
          <p:cNvSpPr/>
          <p:nvPr/>
        </p:nvSpPr>
        <p:spPr>
          <a:xfrm>
            <a:off x="914400" y="4206240"/>
            <a:ext cx="4572000" cy="365760"/>
          </a:xfrm>
          <a:prstGeom prst="rect">
            <a:avLst/>
          </a:prstGeom>
          <a:noFill/>
          <a:ln/>
        </p:spPr>
        <p:txBody>
          <a:bodyPr wrap="square" rtlCol="0" anchor="ctr"/>
          <a:lstStyle/>
          <a:p>
            <a:pPr marL="0" indent="0">
              <a:buNone/>
            </a:pPr>
            <a:r>
              <a:rPr lang="en-US" sz="1500" b="1" dirty="0">
                <a:solidFill>
                  <a:srgbClr val="3A2A22"/>
                </a:solidFill>
                <a:latin typeface="Calibri" pitchFamily="34" charset="0"/>
                <a:ea typeface="Calibri" pitchFamily="34" charset="-122"/>
                <a:cs typeface="Calibri" pitchFamily="34" charset="-120"/>
              </a:rPr>
              <a:t>How we got here</a:t>
            </a:r>
            <a:endParaRPr lang="en-US" sz="1500" dirty="0"/>
          </a:p>
        </p:txBody>
      </p:sp>
      <p:sp>
        <p:nvSpPr>
          <p:cNvPr id="22" name="Text 20"/>
          <p:cNvSpPr/>
          <p:nvPr/>
        </p:nvSpPr>
        <p:spPr>
          <a:xfrm>
            <a:off x="914400" y="4663440"/>
            <a:ext cx="3383280" cy="320040"/>
          </a:xfrm>
          <a:prstGeom prst="rect">
            <a:avLst/>
          </a:prstGeom>
          <a:noFill/>
          <a:ln/>
        </p:spPr>
        <p:txBody>
          <a:bodyPr wrap="square"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1. Consolidate</a:t>
            </a:r>
            <a:endParaRPr lang="en-US" sz="1400" dirty="0"/>
          </a:p>
        </p:txBody>
      </p:sp>
      <p:sp>
        <p:nvSpPr>
          <p:cNvPr id="23" name="Text 21"/>
          <p:cNvSpPr/>
          <p:nvPr/>
        </p:nvSpPr>
        <p:spPr>
          <a:xfrm>
            <a:off x="1021976" y="4983480"/>
            <a:ext cx="3275704" cy="757055"/>
          </a:xfrm>
          <a:prstGeom prst="rect">
            <a:avLst/>
          </a:prstGeom>
          <a:noFill/>
          <a:ln/>
        </p:spPr>
        <p:txBody>
          <a:bodyPr wrap="square" rtlCol="0" anchor="ctr"/>
          <a:lstStyle/>
          <a:p>
            <a:pPr marL="0" indent="0">
              <a:buNone/>
            </a:pPr>
            <a:r>
              <a:rPr lang="en-US" sz="1400" dirty="0">
                <a:solidFill>
                  <a:srgbClr val="36454F"/>
                </a:solidFill>
                <a:latin typeface="Calibri" pitchFamily="34" charset="0"/>
                <a:ea typeface="Calibri" pitchFamily="34" charset="-122"/>
                <a:cs typeface="Calibri" pitchFamily="34" charset="-120"/>
              </a:rPr>
              <a:t>Eight months (July 2024 to February 2025) of raw sales, customer and feedback logs loaded into MySQL database.</a:t>
            </a:r>
            <a:endParaRPr lang="en-US" sz="1400" dirty="0"/>
          </a:p>
        </p:txBody>
      </p:sp>
      <p:sp>
        <p:nvSpPr>
          <p:cNvPr id="24" name="Text 22"/>
          <p:cNvSpPr/>
          <p:nvPr/>
        </p:nvSpPr>
        <p:spPr>
          <a:xfrm>
            <a:off x="4526280" y="4663440"/>
            <a:ext cx="3383280" cy="320040"/>
          </a:xfrm>
          <a:prstGeom prst="rect">
            <a:avLst/>
          </a:prstGeom>
          <a:noFill/>
          <a:ln/>
        </p:spPr>
        <p:txBody>
          <a:bodyPr wrap="square"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2. Model &amp; Clean</a:t>
            </a:r>
            <a:endParaRPr lang="en-US" sz="1400" dirty="0"/>
          </a:p>
        </p:txBody>
      </p:sp>
      <p:sp>
        <p:nvSpPr>
          <p:cNvPr id="25" name="Text 23"/>
          <p:cNvSpPr/>
          <p:nvPr/>
        </p:nvSpPr>
        <p:spPr>
          <a:xfrm>
            <a:off x="4458148" y="5052060"/>
            <a:ext cx="3275704" cy="500679"/>
          </a:xfrm>
          <a:prstGeom prst="rect">
            <a:avLst/>
          </a:prstGeom>
          <a:noFill/>
          <a:ln/>
        </p:spPr>
        <p:txBody>
          <a:bodyPr wrap="square" rtlCol="0" anchor="ctr"/>
          <a:lstStyle/>
          <a:p>
            <a:pPr marL="0" indent="0">
              <a:buNone/>
            </a:pPr>
            <a:r>
              <a:rPr lang="en-US" sz="1400" dirty="0">
                <a:solidFill>
                  <a:srgbClr val="36454F"/>
                </a:solidFill>
                <a:latin typeface="Calibri" pitchFamily="34" charset="0"/>
                <a:ea typeface="Calibri" pitchFamily="34" charset="-122"/>
                <a:cs typeface="Calibri" pitchFamily="34" charset="-120"/>
              </a:rPr>
              <a:t>Dates, weekdays, promotions and weather were cleaned and standardized for reliable comparison. </a:t>
            </a:r>
            <a:endParaRPr lang="en-US" sz="1400" dirty="0"/>
          </a:p>
        </p:txBody>
      </p:sp>
      <p:sp>
        <p:nvSpPr>
          <p:cNvPr id="26" name="Text 24"/>
          <p:cNvSpPr/>
          <p:nvPr/>
        </p:nvSpPr>
        <p:spPr>
          <a:xfrm>
            <a:off x="8138160" y="4663440"/>
            <a:ext cx="3383280" cy="320040"/>
          </a:xfrm>
          <a:prstGeom prst="rect">
            <a:avLst/>
          </a:prstGeom>
          <a:noFill/>
          <a:ln/>
        </p:spPr>
        <p:txBody>
          <a:bodyPr wrap="square"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3. Analyze in Power BI</a:t>
            </a:r>
            <a:endParaRPr lang="en-US" sz="1400" dirty="0"/>
          </a:p>
        </p:txBody>
      </p:sp>
      <p:sp>
        <p:nvSpPr>
          <p:cNvPr id="27" name="Text 25"/>
          <p:cNvSpPr/>
          <p:nvPr/>
        </p:nvSpPr>
        <p:spPr>
          <a:xfrm>
            <a:off x="8229600" y="4959499"/>
            <a:ext cx="3383280" cy="685800"/>
          </a:xfrm>
          <a:prstGeom prst="rect">
            <a:avLst/>
          </a:prstGeom>
          <a:noFill/>
          <a:ln/>
        </p:spPr>
        <p:txBody>
          <a:bodyPr wrap="square" rtlCol="0" anchor="ctr"/>
          <a:lstStyle/>
          <a:p>
            <a:pPr marL="0" indent="0">
              <a:buNone/>
            </a:pPr>
            <a:r>
              <a:rPr lang="en-US" sz="1400" dirty="0">
                <a:solidFill>
                  <a:srgbClr val="36454F"/>
                </a:solidFill>
                <a:latin typeface="Calibri" pitchFamily="34" charset="0"/>
                <a:ea typeface="Calibri" pitchFamily="34" charset="-122"/>
                <a:cs typeface="Calibri" pitchFamily="34" charset="-120"/>
              </a:rPr>
              <a:t>Database connected to Power BI to build interactive dashboards and surface trends.</a:t>
            </a:r>
            <a:endParaRPr lang="en-US" sz="1400" dirty="0"/>
          </a:p>
        </p:txBody>
      </p:sp>
      <p:sp>
        <p:nvSpPr>
          <p:cNvPr id="28" name="Text 26"/>
          <p:cNvSpPr/>
          <p:nvPr/>
        </p:nvSpPr>
        <p:spPr>
          <a:xfrm>
            <a:off x="457200" y="6446520"/>
            <a:ext cx="5486400" cy="274320"/>
          </a:xfrm>
          <a:prstGeom prst="rect">
            <a:avLst/>
          </a:prstGeom>
          <a:noFill/>
          <a:ln/>
        </p:spPr>
        <p:txBody>
          <a:bodyPr wrap="square" rtlCol="0" anchor="ctr"/>
          <a:lstStyle/>
          <a:p>
            <a:pPr marL="0" indent="0">
              <a:buNone/>
            </a:pPr>
            <a:r>
              <a:rPr lang="en-US" sz="1000" dirty="0">
                <a:solidFill>
                  <a:srgbClr val="9AA5AA"/>
                </a:solidFill>
                <a:latin typeface="Calibri" pitchFamily="34" charset="0"/>
                <a:ea typeface="Calibri" pitchFamily="34" charset="-122"/>
                <a:cs typeface="Calibri" pitchFamily="34" charset="-120"/>
              </a:rPr>
              <a:t>Tasty Bites · Sales &amp; Customer Insights</a:t>
            </a:r>
            <a:endParaRPr lang="en-US" sz="1000" dirty="0"/>
          </a:p>
        </p:txBody>
      </p:sp>
      <p:sp>
        <p:nvSpPr>
          <p:cNvPr id="29" name="Text 27"/>
          <p:cNvSpPr/>
          <p:nvPr/>
        </p:nvSpPr>
        <p:spPr>
          <a:xfrm>
            <a:off x="11274552" y="6446520"/>
            <a:ext cx="457200" cy="274320"/>
          </a:xfrm>
          <a:prstGeom prst="rect">
            <a:avLst/>
          </a:prstGeom>
          <a:noFill/>
          <a:ln/>
        </p:spPr>
        <p:txBody>
          <a:bodyPr wrap="square" rtlCol="0" anchor="ctr"/>
          <a:lstStyle/>
          <a:p>
            <a:pPr marL="0" indent="0" algn="r">
              <a:buNone/>
            </a:pPr>
            <a:r>
              <a:rPr lang="en-US" sz="1000" dirty="0">
                <a:solidFill>
                  <a:srgbClr val="9AA5AA"/>
                </a:solidFill>
                <a:latin typeface="Calibri" pitchFamily="34" charset="0"/>
                <a:ea typeface="Calibri" pitchFamily="34" charset="-122"/>
                <a:cs typeface="Calibri" pitchFamily="34" charset="-120"/>
              </a:rPr>
              <a:t>2</a:t>
            </a:r>
            <a:endParaRPr lang="en-US" sz="1000" dirty="0"/>
          </a:p>
        </p:txBody>
      </p:sp>
      <p:sp>
        <p:nvSpPr>
          <p:cNvPr id="31" name="TextBox 30">
            <a:extLst>
              <a:ext uri="{FF2B5EF4-FFF2-40B4-BE49-F238E27FC236}">
                <a16:creationId xmlns:a16="http://schemas.microsoft.com/office/drawing/2014/main" id="{ECD96D0A-F7C1-462E-9BA4-3C12D5831FB2}"/>
              </a:ext>
            </a:extLst>
          </p:cNvPr>
          <p:cNvSpPr txBox="1"/>
          <p:nvPr/>
        </p:nvSpPr>
        <p:spPr>
          <a:xfrm>
            <a:off x="3608293" y="3025434"/>
            <a:ext cx="2289587" cy="246221"/>
          </a:xfrm>
          <a:prstGeom prst="rect">
            <a:avLst/>
          </a:prstGeom>
          <a:noFill/>
        </p:spPr>
        <p:txBody>
          <a:bodyPr wrap="square" rtlCol="0">
            <a:spAutoFit/>
          </a:bodyPr>
          <a:lstStyle/>
          <a:p>
            <a:r>
              <a:rPr lang="en-GB" sz="1000" dirty="0"/>
              <a:t>GHS2,700.00 - GHS9,800.00 range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548640" y="99222"/>
            <a:ext cx="10058400" cy="640080"/>
          </a:xfrm>
          <a:prstGeom prst="rect">
            <a:avLst/>
          </a:prstGeom>
          <a:noFill/>
          <a:ln/>
        </p:spPr>
        <p:txBody>
          <a:bodyPr wrap="square" rtlCol="0" anchor="ctr"/>
          <a:lstStyle/>
          <a:p>
            <a:pPr marL="0" indent="0">
              <a:buNone/>
            </a:pPr>
            <a:r>
              <a:rPr lang="en-US" sz="3000" b="1" dirty="0">
                <a:solidFill>
                  <a:srgbClr val="3A2A22"/>
                </a:solidFill>
                <a:latin typeface="Cambria" pitchFamily="34" charset="0"/>
                <a:ea typeface="Cambria" pitchFamily="34" charset="-122"/>
                <a:cs typeface="Cambria" pitchFamily="34" charset="-120"/>
              </a:rPr>
              <a:t>The Problem</a:t>
            </a:r>
            <a:endParaRPr lang="en-US" sz="3000" dirty="0"/>
          </a:p>
        </p:txBody>
      </p:sp>
      <p:sp>
        <p:nvSpPr>
          <p:cNvPr id="3" name="Text 1"/>
          <p:cNvSpPr/>
          <p:nvPr/>
        </p:nvSpPr>
        <p:spPr>
          <a:xfrm>
            <a:off x="548640" y="624997"/>
            <a:ext cx="8229600" cy="1057888"/>
          </a:xfrm>
          <a:prstGeom prst="rect">
            <a:avLst/>
          </a:prstGeom>
          <a:noFill/>
          <a:ln/>
        </p:spPr>
        <p:txBody>
          <a:bodyPr wrap="square" rtlCol="0" anchor="ctr"/>
          <a:lstStyle/>
          <a:p>
            <a:r>
              <a:rPr lang="en-GB" sz="1400" dirty="0"/>
              <a:t>Sales and customer visits followed a similar trend over the reporting period. Both began declining in late October 2024 and remained relatively stable between December 2024 and January 2025, likely due to increased festive season spending, including bonuses and gift-related purchases. This suggests that fluctuations in sales were largely driven by changes in customer traffic.</a:t>
            </a:r>
            <a:endParaRPr lang="en-US" sz="1300" dirty="0"/>
          </a:p>
        </p:txBody>
      </p:sp>
      <p:sp>
        <p:nvSpPr>
          <p:cNvPr id="14" name="Text 11"/>
          <p:cNvSpPr/>
          <p:nvPr/>
        </p:nvSpPr>
        <p:spPr>
          <a:xfrm>
            <a:off x="457200" y="6446520"/>
            <a:ext cx="5486400" cy="274320"/>
          </a:xfrm>
          <a:prstGeom prst="rect">
            <a:avLst/>
          </a:prstGeom>
          <a:noFill/>
          <a:ln/>
        </p:spPr>
        <p:txBody>
          <a:bodyPr wrap="square" rtlCol="0" anchor="ctr"/>
          <a:lstStyle/>
          <a:p>
            <a:pPr marL="0" indent="0">
              <a:buNone/>
            </a:pPr>
            <a:r>
              <a:rPr lang="en-US" sz="1000" dirty="0">
                <a:solidFill>
                  <a:srgbClr val="9AA5AA"/>
                </a:solidFill>
                <a:latin typeface="Calibri" pitchFamily="34" charset="0"/>
                <a:ea typeface="Calibri" pitchFamily="34" charset="-122"/>
                <a:cs typeface="Calibri" pitchFamily="34" charset="-120"/>
              </a:rPr>
              <a:t>Tasty Bites · Sales &amp; Customer Insights</a:t>
            </a:r>
            <a:endParaRPr lang="en-US" sz="1000" dirty="0"/>
          </a:p>
        </p:txBody>
      </p:sp>
      <p:sp>
        <p:nvSpPr>
          <p:cNvPr id="15" name="Text 12"/>
          <p:cNvSpPr/>
          <p:nvPr/>
        </p:nvSpPr>
        <p:spPr>
          <a:xfrm>
            <a:off x="11274552" y="6446520"/>
            <a:ext cx="457200" cy="274320"/>
          </a:xfrm>
          <a:prstGeom prst="rect">
            <a:avLst/>
          </a:prstGeom>
          <a:noFill/>
          <a:ln/>
        </p:spPr>
        <p:txBody>
          <a:bodyPr wrap="square" rtlCol="0" anchor="ctr"/>
          <a:lstStyle/>
          <a:p>
            <a:pPr marL="0" indent="0" algn="r">
              <a:buNone/>
            </a:pPr>
            <a:r>
              <a:rPr lang="en-US" sz="1000" dirty="0">
                <a:solidFill>
                  <a:srgbClr val="9AA5AA"/>
                </a:solidFill>
                <a:latin typeface="Calibri" pitchFamily="34" charset="0"/>
                <a:ea typeface="Calibri" pitchFamily="34" charset="-122"/>
                <a:cs typeface="Calibri" pitchFamily="34" charset="-120"/>
              </a:rPr>
              <a:t>6</a:t>
            </a:r>
            <a:endParaRPr lang="en-US" sz="1000" dirty="0"/>
          </a:p>
        </p:txBody>
      </p:sp>
      <p:graphicFrame>
        <p:nvGraphicFramePr>
          <p:cNvPr id="8" name="Chart 7">
            <a:extLst>
              <a:ext uri="{FF2B5EF4-FFF2-40B4-BE49-F238E27FC236}">
                <a16:creationId xmlns:a16="http://schemas.microsoft.com/office/drawing/2014/main" id="{A6D30DF9-F19E-457C-BE61-B66F65207E21}"/>
              </a:ext>
            </a:extLst>
          </p:cNvPr>
          <p:cNvGraphicFramePr/>
          <p:nvPr>
            <p:extLst>
              <p:ext uri="{D42A27DB-BD31-4B8C-83A1-F6EECF244321}">
                <p14:modId xmlns:p14="http://schemas.microsoft.com/office/powerpoint/2010/main" val="2490500796"/>
              </p:ext>
            </p:extLst>
          </p:nvPr>
        </p:nvGraphicFramePr>
        <p:xfrm>
          <a:off x="859925" y="1991250"/>
          <a:ext cx="9435830" cy="445527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rtlCol="0" anchor="ctr"/>
          <a:lstStyle/>
          <a:p>
            <a:pPr marL="0" indent="0">
              <a:buNone/>
            </a:pPr>
            <a:r>
              <a:rPr lang="en-US" sz="2800" b="1" dirty="0">
                <a:solidFill>
                  <a:srgbClr val="3A2A22"/>
                </a:solidFill>
                <a:latin typeface="Cambria" pitchFamily="34" charset="0"/>
                <a:ea typeface="Cambria" pitchFamily="34" charset="-122"/>
                <a:cs typeface="Cambria" pitchFamily="34" charset="-120"/>
              </a:rPr>
              <a:t>Weekends Carry the Business</a:t>
            </a:r>
            <a:endParaRPr lang="en-US" sz="2800" dirty="0"/>
          </a:p>
        </p:txBody>
      </p:sp>
      <p:sp>
        <p:nvSpPr>
          <p:cNvPr id="3" name="Text 1"/>
          <p:cNvSpPr/>
          <p:nvPr/>
        </p:nvSpPr>
        <p:spPr>
          <a:xfrm>
            <a:off x="548640" y="1005840"/>
            <a:ext cx="7315200" cy="365760"/>
          </a:xfrm>
          <a:prstGeom prst="rect">
            <a:avLst/>
          </a:prstGeom>
          <a:noFill/>
          <a:ln/>
        </p:spPr>
        <p:txBody>
          <a:bodyPr wrap="square" rtlCol="0" anchor="ctr"/>
          <a:lstStyle/>
          <a:p>
            <a:pPr marL="0" indent="0">
              <a:buNone/>
            </a:pPr>
            <a:r>
              <a:rPr lang="en-US" sz="1300" dirty="0">
                <a:solidFill>
                  <a:srgbClr val="36454F"/>
                </a:solidFill>
                <a:latin typeface="Calibri" pitchFamily="34" charset="0"/>
                <a:ea typeface="Calibri" pitchFamily="34" charset="-122"/>
                <a:cs typeface="Calibri" pitchFamily="34" charset="-120"/>
              </a:rPr>
              <a:t>Average daily sales by day of week (GHS)</a:t>
            </a:r>
            <a:endParaRPr lang="en-US" sz="1300" dirty="0"/>
          </a:p>
        </p:txBody>
      </p:sp>
      <p:graphicFrame>
        <p:nvGraphicFramePr>
          <p:cNvPr id="4" name="Chart 0"/>
          <p:cNvGraphicFramePr/>
          <p:nvPr>
            <p:extLst>
              <p:ext uri="{D42A27DB-BD31-4B8C-83A1-F6EECF244321}">
                <p14:modId xmlns:p14="http://schemas.microsoft.com/office/powerpoint/2010/main" val="42476218"/>
              </p:ext>
            </p:extLst>
          </p:nvPr>
        </p:nvGraphicFramePr>
        <p:xfrm>
          <a:off x="548640" y="1508760"/>
          <a:ext cx="758952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408894" y="1754393"/>
            <a:ext cx="3200400" cy="1306158"/>
          </a:xfrm>
          <a:prstGeom prst="roundRect">
            <a:avLst>
              <a:gd name="adj" fmla="val 3404"/>
            </a:avLst>
          </a:prstGeom>
          <a:solidFill>
            <a:srgbClr val="B85042"/>
          </a:solidFill>
          <a:ln/>
        </p:spPr>
        <p:txBody>
          <a:bodyPr/>
          <a:lstStyle/>
          <a:p>
            <a:endParaRPr lang="en-GB" dirty="0"/>
          </a:p>
        </p:txBody>
      </p:sp>
      <p:sp>
        <p:nvSpPr>
          <p:cNvPr id="6" name="Text 3"/>
          <p:cNvSpPr/>
          <p:nvPr/>
        </p:nvSpPr>
        <p:spPr>
          <a:xfrm>
            <a:off x="8688593" y="1880796"/>
            <a:ext cx="274320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Sun &amp; Sat</a:t>
            </a:r>
            <a:endParaRPr lang="en-US" sz="1500" dirty="0"/>
          </a:p>
        </p:txBody>
      </p:sp>
      <p:sp>
        <p:nvSpPr>
          <p:cNvPr id="7" name="Text 4"/>
          <p:cNvSpPr/>
          <p:nvPr/>
        </p:nvSpPr>
        <p:spPr>
          <a:xfrm>
            <a:off x="8686800" y="2006302"/>
            <a:ext cx="2743200" cy="1005840"/>
          </a:xfrm>
          <a:prstGeom prst="rect">
            <a:avLst/>
          </a:prstGeom>
          <a:noFill/>
          <a:ln/>
        </p:spPr>
        <p:txBody>
          <a:bodyPr wrap="square" rtlCol="0" anchor="ctr"/>
          <a:lstStyle/>
          <a:p>
            <a:pPr marL="0" indent="0">
              <a:buNone/>
            </a:pPr>
            <a:r>
              <a:rPr lang="en-US" sz="1250" dirty="0">
                <a:solidFill>
                  <a:srgbClr val="E7E8D1"/>
                </a:solidFill>
                <a:latin typeface="Calibri" pitchFamily="34" charset="0"/>
                <a:ea typeface="Calibri" pitchFamily="34" charset="-122"/>
                <a:cs typeface="Calibri" pitchFamily="34" charset="-120"/>
              </a:rPr>
              <a:t>are the two busiest days — up to 2× Monday's revenue and traffic.</a:t>
            </a:r>
            <a:endParaRPr lang="en-US" sz="1250" dirty="0"/>
          </a:p>
        </p:txBody>
      </p:sp>
      <p:sp>
        <p:nvSpPr>
          <p:cNvPr id="10" name="Shape 6"/>
          <p:cNvSpPr/>
          <p:nvPr/>
        </p:nvSpPr>
        <p:spPr>
          <a:xfrm>
            <a:off x="8412480" y="3840480"/>
            <a:ext cx="3200400" cy="1508760"/>
          </a:xfrm>
          <a:prstGeom prst="roundRect">
            <a:avLst>
              <a:gd name="adj" fmla="val 3137"/>
            </a:avLst>
          </a:prstGeom>
          <a:solidFill>
            <a:srgbClr val="FFFFFF"/>
          </a:solidFill>
          <a:ln w="12700">
            <a:solidFill>
              <a:srgbClr val="E3DCD3"/>
            </a:solidFill>
            <a:prstDash val="solid"/>
          </a:ln>
        </p:spPr>
      </p:sp>
      <p:sp>
        <p:nvSpPr>
          <p:cNvPr id="11" name="Text 7"/>
          <p:cNvSpPr/>
          <p:nvPr/>
        </p:nvSpPr>
        <p:spPr>
          <a:xfrm>
            <a:off x="8686800" y="4023360"/>
            <a:ext cx="2743200" cy="365760"/>
          </a:xfrm>
          <a:prstGeom prst="rect">
            <a:avLst/>
          </a:prstGeom>
          <a:noFill/>
          <a:ln/>
        </p:spPr>
        <p:txBody>
          <a:bodyPr wrap="square" rtlCol="0" anchor="ctr"/>
          <a:lstStyle/>
          <a:p>
            <a:pPr marL="0" indent="0">
              <a:buNone/>
            </a:pPr>
            <a:r>
              <a:rPr lang="en-US" sz="1500" b="1" dirty="0">
                <a:solidFill>
                  <a:srgbClr val="3A2A22"/>
                </a:solidFill>
                <a:latin typeface="Calibri" pitchFamily="34" charset="0"/>
                <a:ea typeface="Calibri" pitchFamily="34" charset="-122"/>
                <a:cs typeface="Calibri" pitchFamily="34" charset="-120"/>
              </a:rPr>
              <a:t>Monday</a:t>
            </a:r>
            <a:endParaRPr lang="en-US" sz="1500" dirty="0"/>
          </a:p>
        </p:txBody>
      </p:sp>
      <p:sp>
        <p:nvSpPr>
          <p:cNvPr id="12" name="Text 8"/>
          <p:cNvSpPr/>
          <p:nvPr/>
        </p:nvSpPr>
        <p:spPr>
          <a:xfrm>
            <a:off x="8686800" y="4023360"/>
            <a:ext cx="2743200" cy="1237129"/>
          </a:xfrm>
          <a:prstGeom prst="rect">
            <a:avLst/>
          </a:prstGeom>
          <a:noFill/>
          <a:ln/>
        </p:spPr>
        <p:txBody>
          <a:bodyPr wrap="square" rtlCol="0" anchor="ctr"/>
          <a:lstStyle/>
          <a:p>
            <a:pPr marL="0" indent="0">
              <a:buNone/>
            </a:pPr>
            <a:r>
              <a:rPr lang="en-US" sz="1250" dirty="0">
                <a:solidFill>
                  <a:srgbClr val="36454F"/>
                </a:solidFill>
                <a:latin typeface="Calibri" pitchFamily="34" charset="0"/>
                <a:ea typeface="Calibri" pitchFamily="34" charset="-122"/>
                <a:cs typeface="Calibri" pitchFamily="34" charset="-120"/>
              </a:rPr>
              <a:t>is the weakest day — the lowest sales, fewest customers, and lowest feedback (4.2) of the week.</a:t>
            </a:r>
            <a:endParaRPr lang="en-US" sz="1250" dirty="0"/>
          </a:p>
        </p:txBody>
      </p:sp>
      <p:sp>
        <p:nvSpPr>
          <p:cNvPr id="13" name="Text 9"/>
          <p:cNvSpPr/>
          <p:nvPr/>
        </p:nvSpPr>
        <p:spPr>
          <a:xfrm>
            <a:off x="457200" y="6446520"/>
            <a:ext cx="5486400" cy="274320"/>
          </a:xfrm>
          <a:prstGeom prst="rect">
            <a:avLst/>
          </a:prstGeom>
          <a:noFill/>
          <a:ln/>
        </p:spPr>
        <p:txBody>
          <a:bodyPr wrap="square" rtlCol="0" anchor="ctr"/>
          <a:lstStyle/>
          <a:p>
            <a:pPr marL="0" indent="0">
              <a:buNone/>
            </a:pPr>
            <a:r>
              <a:rPr lang="en-US" sz="1000" dirty="0">
                <a:solidFill>
                  <a:srgbClr val="9AA5AA"/>
                </a:solidFill>
                <a:latin typeface="Calibri" pitchFamily="34" charset="0"/>
                <a:ea typeface="Calibri" pitchFamily="34" charset="-122"/>
                <a:cs typeface="Calibri" pitchFamily="34" charset="-120"/>
              </a:rPr>
              <a:t>Tasty Bites · Sales &amp; Customer Insights</a:t>
            </a:r>
            <a:endParaRPr lang="en-US" sz="1000" dirty="0"/>
          </a:p>
        </p:txBody>
      </p:sp>
      <p:sp>
        <p:nvSpPr>
          <p:cNvPr id="14" name="Text 10"/>
          <p:cNvSpPr/>
          <p:nvPr/>
        </p:nvSpPr>
        <p:spPr>
          <a:xfrm>
            <a:off x="11274552" y="6446520"/>
            <a:ext cx="457200" cy="274320"/>
          </a:xfrm>
          <a:prstGeom prst="rect">
            <a:avLst/>
          </a:prstGeom>
          <a:noFill/>
          <a:ln/>
        </p:spPr>
        <p:txBody>
          <a:bodyPr wrap="square" rtlCol="0" anchor="ctr"/>
          <a:lstStyle/>
          <a:p>
            <a:pPr marL="0" indent="0" algn="r">
              <a:buNone/>
            </a:pPr>
            <a:r>
              <a:rPr lang="en-US" sz="1000" dirty="0">
                <a:solidFill>
                  <a:srgbClr val="9AA5A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640080"/>
          </a:xfrm>
          <a:prstGeom prst="rect">
            <a:avLst/>
          </a:prstGeom>
          <a:noFill/>
          <a:ln/>
        </p:spPr>
        <p:txBody>
          <a:bodyPr wrap="square" rtlCol="0" anchor="ctr"/>
          <a:lstStyle/>
          <a:p>
            <a:pPr marL="0" indent="0">
              <a:buNone/>
            </a:pPr>
            <a:r>
              <a:rPr lang="en-US" sz="3000" b="1" dirty="0">
                <a:solidFill>
                  <a:srgbClr val="3A2A22"/>
                </a:solidFill>
                <a:latin typeface="Cambria" pitchFamily="34" charset="0"/>
                <a:ea typeface="Cambria" pitchFamily="34" charset="-122"/>
                <a:cs typeface="Cambria" pitchFamily="34" charset="-120"/>
              </a:rPr>
              <a:t>Promotions Work. Rain Doesn't Hurt.</a:t>
            </a:r>
            <a:endParaRPr lang="en-US" sz="3000" dirty="0"/>
          </a:p>
        </p:txBody>
      </p:sp>
      <p:sp>
        <p:nvSpPr>
          <p:cNvPr id="3" name="Text 1"/>
          <p:cNvSpPr/>
          <p:nvPr/>
        </p:nvSpPr>
        <p:spPr>
          <a:xfrm>
            <a:off x="548640" y="1005840"/>
            <a:ext cx="9144000" cy="365760"/>
          </a:xfrm>
          <a:prstGeom prst="rect">
            <a:avLst/>
          </a:prstGeom>
          <a:noFill/>
          <a:ln/>
        </p:spPr>
        <p:txBody>
          <a:bodyPr wrap="square" rtlCol="0" anchor="ctr"/>
          <a:lstStyle/>
          <a:p>
            <a:pPr marL="0" indent="0">
              <a:buNone/>
            </a:pPr>
            <a:r>
              <a:rPr lang="en-US" sz="1400" dirty="0">
                <a:solidFill>
                  <a:srgbClr val="36454F"/>
                </a:solidFill>
                <a:latin typeface="Calibri" pitchFamily="34" charset="0"/>
                <a:ea typeface="Calibri" pitchFamily="34" charset="-122"/>
                <a:cs typeface="Calibri" pitchFamily="34" charset="-120"/>
              </a:rPr>
              <a:t>Impact of promotions and weather on average daily sales (GHS)</a:t>
            </a:r>
            <a:endParaRPr lang="en-US" sz="1400" dirty="0"/>
          </a:p>
        </p:txBody>
      </p:sp>
      <p:sp>
        <p:nvSpPr>
          <p:cNvPr id="4" name="Text 2"/>
          <p:cNvSpPr/>
          <p:nvPr/>
        </p:nvSpPr>
        <p:spPr>
          <a:xfrm>
            <a:off x="548640" y="1463040"/>
            <a:ext cx="5029200" cy="320040"/>
          </a:xfrm>
          <a:prstGeom prst="rect">
            <a:avLst/>
          </a:prstGeom>
          <a:noFill/>
          <a:ln/>
        </p:spPr>
        <p:txBody>
          <a:bodyPr wrap="square"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Promotion Active?</a:t>
            </a:r>
            <a:endParaRPr lang="en-US" sz="1400" dirty="0"/>
          </a:p>
        </p:txBody>
      </p:sp>
      <p:graphicFrame>
        <p:nvGraphicFramePr>
          <p:cNvPr id="5" name="Chart 0"/>
          <p:cNvGraphicFramePr/>
          <p:nvPr>
            <p:extLst>
              <p:ext uri="{D42A27DB-BD31-4B8C-83A1-F6EECF244321}">
                <p14:modId xmlns:p14="http://schemas.microsoft.com/office/powerpoint/2010/main" val="2052504259"/>
              </p:ext>
            </p:extLst>
          </p:nvPr>
        </p:nvGraphicFramePr>
        <p:xfrm>
          <a:off x="548640" y="1828800"/>
          <a:ext cx="5212080" cy="21945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79120" y="4485913"/>
            <a:ext cx="5212080" cy="822960"/>
          </a:xfrm>
          <a:prstGeom prst="rect">
            <a:avLst/>
          </a:prstGeom>
          <a:noFill/>
          <a:ln/>
        </p:spPr>
        <p:txBody>
          <a:bodyPr wrap="square" rtlCol="0" anchor="ctr"/>
          <a:lstStyle/>
          <a:p>
            <a:pPr marL="0" indent="0">
              <a:buNone/>
            </a:pPr>
            <a:r>
              <a:rPr lang="en-US" sz="1400" i="1" dirty="0">
                <a:solidFill>
                  <a:srgbClr val="36454F"/>
                </a:solidFill>
                <a:latin typeface="Calibri" pitchFamily="34" charset="0"/>
                <a:ea typeface="Calibri" pitchFamily="34" charset="-122"/>
                <a:cs typeface="Calibri" pitchFamily="34" charset="-120"/>
              </a:rPr>
              <a:t>Promo days average +10% sales, +8% customers, and higher feedback (4.7 vs 4.4).</a:t>
            </a:r>
          </a:p>
          <a:p>
            <a:pPr marL="0" indent="0">
              <a:buNone/>
            </a:pPr>
            <a:r>
              <a:rPr lang="en-US" sz="1400" i="1" dirty="0">
                <a:solidFill>
                  <a:srgbClr val="36454F"/>
                </a:solidFill>
                <a:latin typeface="Calibri" pitchFamily="34" charset="0"/>
                <a:ea typeface="Calibri" pitchFamily="34" charset="-122"/>
                <a:cs typeface="Calibri" pitchFamily="34" charset="-120"/>
              </a:rPr>
              <a:t>Interesting fact : Fufu and Light Soup has no promotion but it has the highest spend of GHS43.78</a:t>
            </a:r>
            <a:endParaRPr lang="en-US" sz="1400" dirty="0"/>
          </a:p>
        </p:txBody>
      </p:sp>
      <p:sp>
        <p:nvSpPr>
          <p:cNvPr id="7" name="Text 4"/>
          <p:cNvSpPr/>
          <p:nvPr/>
        </p:nvSpPr>
        <p:spPr>
          <a:xfrm>
            <a:off x="6309360" y="1463040"/>
            <a:ext cx="5029200" cy="320040"/>
          </a:xfrm>
          <a:prstGeom prst="rect">
            <a:avLst/>
          </a:prstGeom>
          <a:noFill/>
          <a:ln/>
        </p:spPr>
        <p:txBody>
          <a:bodyPr wrap="square"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Weather Condition</a:t>
            </a:r>
            <a:endParaRPr lang="en-US" sz="1400" dirty="0"/>
          </a:p>
        </p:txBody>
      </p:sp>
      <p:graphicFrame>
        <p:nvGraphicFramePr>
          <p:cNvPr id="8" name="Chart 1"/>
          <p:cNvGraphicFramePr/>
          <p:nvPr/>
        </p:nvGraphicFramePr>
        <p:xfrm>
          <a:off x="6309360" y="1828800"/>
          <a:ext cx="5303520" cy="219456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p:nvPr/>
        </p:nvSpPr>
        <p:spPr>
          <a:xfrm>
            <a:off x="6309360" y="4397877"/>
            <a:ext cx="5303520" cy="822960"/>
          </a:xfrm>
          <a:prstGeom prst="rect">
            <a:avLst/>
          </a:prstGeom>
          <a:noFill/>
          <a:ln/>
        </p:spPr>
        <p:txBody>
          <a:bodyPr wrap="square" rtlCol="0" anchor="ctr"/>
          <a:lstStyle/>
          <a:p>
            <a:pPr marL="0" indent="0">
              <a:buNone/>
            </a:pPr>
            <a:r>
              <a:rPr lang="en-GB" sz="1400" i="1" dirty="0"/>
              <a:t>Sales were highest on rainy days. However, this appears to be influenced by rainy days coinciding with weekends, when customer demand for comfort food is naturally higher. This suggests that weather alone did not negatively impact sales.</a:t>
            </a:r>
            <a:endParaRPr lang="en-US" sz="1400" i="1" dirty="0"/>
          </a:p>
        </p:txBody>
      </p:sp>
      <p:sp>
        <p:nvSpPr>
          <p:cNvPr id="10" name="Shape 6"/>
          <p:cNvSpPr/>
          <p:nvPr/>
        </p:nvSpPr>
        <p:spPr>
          <a:xfrm>
            <a:off x="548640" y="5715000"/>
            <a:ext cx="11064240" cy="593392"/>
          </a:xfrm>
          <a:prstGeom prst="roundRect">
            <a:avLst>
              <a:gd name="adj" fmla="val 6957"/>
            </a:avLst>
          </a:prstGeom>
          <a:solidFill>
            <a:srgbClr val="3A2A22"/>
          </a:solidFill>
          <a:ln/>
        </p:spPr>
      </p:sp>
      <p:sp>
        <p:nvSpPr>
          <p:cNvPr id="11" name="Text 7"/>
          <p:cNvSpPr/>
          <p:nvPr/>
        </p:nvSpPr>
        <p:spPr>
          <a:xfrm>
            <a:off x="680935" y="5549633"/>
            <a:ext cx="10332720" cy="8229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Takeaway: promotions reliably lift sales — but today they run on already-strong days (Tue, Fri, Sat). Shifting promo days toward Monday could do more good. Delivery packages can be offered for rainy days since people are still interested in consuming their comfort food.</a:t>
            </a:r>
            <a:endParaRPr lang="en-US" sz="1300" dirty="0"/>
          </a:p>
        </p:txBody>
      </p:sp>
      <p:sp>
        <p:nvSpPr>
          <p:cNvPr id="12" name="Text 8"/>
          <p:cNvSpPr/>
          <p:nvPr/>
        </p:nvSpPr>
        <p:spPr>
          <a:xfrm>
            <a:off x="457200" y="6446520"/>
            <a:ext cx="5486400" cy="274320"/>
          </a:xfrm>
          <a:prstGeom prst="rect">
            <a:avLst/>
          </a:prstGeom>
          <a:noFill/>
          <a:ln/>
        </p:spPr>
        <p:txBody>
          <a:bodyPr wrap="square" rtlCol="0" anchor="ctr"/>
          <a:lstStyle/>
          <a:p>
            <a:pPr marL="0" indent="0">
              <a:buNone/>
            </a:pPr>
            <a:r>
              <a:rPr lang="en-US" sz="1000" dirty="0">
                <a:solidFill>
                  <a:srgbClr val="9AA5AA"/>
                </a:solidFill>
                <a:latin typeface="Calibri" pitchFamily="34" charset="0"/>
                <a:ea typeface="Calibri" pitchFamily="34" charset="-122"/>
                <a:cs typeface="Calibri" pitchFamily="34" charset="-120"/>
              </a:rPr>
              <a:t>Tasty Bites · Sales &amp; Customer Insights</a:t>
            </a:r>
            <a:endParaRPr lang="en-US" sz="1000" dirty="0"/>
          </a:p>
        </p:txBody>
      </p:sp>
      <p:sp>
        <p:nvSpPr>
          <p:cNvPr id="13" name="Text 9"/>
          <p:cNvSpPr/>
          <p:nvPr/>
        </p:nvSpPr>
        <p:spPr>
          <a:xfrm>
            <a:off x="11274552" y="6446520"/>
            <a:ext cx="457200" cy="274320"/>
          </a:xfrm>
          <a:prstGeom prst="rect">
            <a:avLst/>
          </a:prstGeom>
          <a:noFill/>
          <a:ln/>
        </p:spPr>
        <p:txBody>
          <a:bodyPr wrap="square" rtlCol="0" anchor="ctr"/>
          <a:lstStyle/>
          <a:p>
            <a:pPr marL="0" indent="0" algn="r">
              <a:buNone/>
            </a:pPr>
            <a:r>
              <a:rPr lang="en-US" sz="1000" dirty="0">
                <a:solidFill>
                  <a:srgbClr val="9AA5A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640080"/>
          </a:xfrm>
          <a:prstGeom prst="rect">
            <a:avLst/>
          </a:prstGeom>
          <a:noFill/>
          <a:ln/>
        </p:spPr>
        <p:txBody>
          <a:bodyPr wrap="square" rtlCol="0" anchor="ctr"/>
          <a:lstStyle/>
          <a:p>
            <a:pPr marL="0" indent="0">
              <a:buNone/>
            </a:pPr>
            <a:r>
              <a:rPr lang="en-US" sz="3000" b="1" dirty="0">
                <a:solidFill>
                  <a:srgbClr val="3A2A22"/>
                </a:solidFill>
                <a:latin typeface="Cambria" pitchFamily="34" charset="0"/>
                <a:ea typeface="Cambria" pitchFamily="34" charset="-122"/>
                <a:cs typeface="Cambria" pitchFamily="34" charset="-120"/>
              </a:rPr>
              <a:t>Fufu &amp; Light Soup Leads on Value</a:t>
            </a:r>
            <a:endParaRPr lang="en-US" sz="3000" dirty="0"/>
          </a:p>
        </p:txBody>
      </p:sp>
      <p:sp>
        <p:nvSpPr>
          <p:cNvPr id="3" name="Text 1"/>
          <p:cNvSpPr/>
          <p:nvPr/>
        </p:nvSpPr>
        <p:spPr>
          <a:xfrm>
            <a:off x="548640" y="1005840"/>
            <a:ext cx="8229600" cy="365760"/>
          </a:xfrm>
          <a:prstGeom prst="rect">
            <a:avLst/>
          </a:prstGeom>
          <a:noFill/>
          <a:ln/>
        </p:spPr>
        <p:txBody>
          <a:bodyPr wrap="square" rtlCol="0" anchor="ctr"/>
          <a:lstStyle/>
          <a:p>
            <a:pPr marL="0" indent="0">
              <a:buNone/>
            </a:pPr>
            <a:r>
              <a:rPr lang="en-US" sz="1400" dirty="0">
                <a:solidFill>
                  <a:srgbClr val="36454F"/>
                </a:solidFill>
                <a:latin typeface="Calibri" pitchFamily="34" charset="0"/>
                <a:ea typeface="Calibri" pitchFamily="34" charset="-122"/>
                <a:cs typeface="Calibri" pitchFamily="34" charset="-120"/>
              </a:rPr>
              <a:t>Total revenue contribution by top-selling dish (GHS), 8 months</a:t>
            </a:r>
            <a:endParaRPr lang="en-US" sz="1400" dirty="0"/>
          </a:p>
        </p:txBody>
      </p:sp>
      <p:graphicFrame>
        <p:nvGraphicFramePr>
          <p:cNvPr id="4" name="Chart 0"/>
          <p:cNvGraphicFramePr/>
          <p:nvPr>
            <p:extLst>
              <p:ext uri="{D42A27DB-BD31-4B8C-83A1-F6EECF244321}">
                <p14:modId xmlns:p14="http://schemas.microsoft.com/office/powerpoint/2010/main" val="1509458520"/>
              </p:ext>
            </p:extLst>
          </p:nvPr>
        </p:nvGraphicFramePr>
        <p:xfrm>
          <a:off x="548640" y="1508760"/>
          <a:ext cx="758952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458200" y="1302514"/>
            <a:ext cx="3185160" cy="1506355"/>
          </a:xfrm>
          <a:prstGeom prst="roundRect">
            <a:avLst>
              <a:gd name="adj" fmla="val 3200"/>
            </a:avLst>
          </a:prstGeom>
          <a:solidFill>
            <a:srgbClr val="B85042"/>
          </a:solidFill>
          <a:ln/>
        </p:spPr>
      </p:sp>
      <p:sp>
        <p:nvSpPr>
          <p:cNvPr id="6" name="Text 3"/>
          <p:cNvSpPr/>
          <p:nvPr/>
        </p:nvSpPr>
        <p:spPr>
          <a:xfrm>
            <a:off x="8595360" y="1345883"/>
            <a:ext cx="2743200" cy="4572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GHS 7,912</a:t>
            </a:r>
            <a:endParaRPr lang="en-US" sz="2200" dirty="0"/>
          </a:p>
        </p:txBody>
      </p:sp>
      <p:sp>
        <p:nvSpPr>
          <p:cNvPr id="7" name="Text 4"/>
          <p:cNvSpPr/>
          <p:nvPr/>
        </p:nvSpPr>
        <p:spPr>
          <a:xfrm>
            <a:off x="8641080" y="1942650"/>
            <a:ext cx="2651760" cy="772758"/>
          </a:xfrm>
          <a:prstGeom prst="rect">
            <a:avLst/>
          </a:prstGeom>
          <a:noFill/>
          <a:ln/>
        </p:spPr>
        <p:txBody>
          <a:bodyPr wrap="square" rtlCol="0" anchor="ctr"/>
          <a:lstStyle/>
          <a:p>
            <a:pPr marL="0" indent="0">
              <a:buNone/>
            </a:pPr>
            <a:r>
              <a:rPr lang="en-US" sz="1400" dirty="0">
                <a:solidFill>
                  <a:srgbClr val="E7E8D1"/>
                </a:solidFill>
                <a:latin typeface="Calibri" pitchFamily="34" charset="0"/>
                <a:ea typeface="Calibri" pitchFamily="34" charset="-122"/>
                <a:cs typeface="Calibri" pitchFamily="34" charset="-120"/>
              </a:rPr>
              <a:t>avg. daily sales on Sundays, when Fufu &amp; Light Soup is featured — the single best-performing menu day – GHS43.78</a:t>
            </a:r>
            <a:endParaRPr lang="en-US" sz="1400" dirty="0"/>
          </a:p>
        </p:txBody>
      </p:sp>
      <p:sp>
        <p:nvSpPr>
          <p:cNvPr id="8" name="Shape 5"/>
          <p:cNvSpPr/>
          <p:nvPr/>
        </p:nvSpPr>
        <p:spPr>
          <a:xfrm>
            <a:off x="8442960" y="3017968"/>
            <a:ext cx="3200400" cy="1631918"/>
          </a:xfrm>
          <a:prstGeom prst="roundRect">
            <a:avLst>
              <a:gd name="adj" fmla="val 3333"/>
            </a:avLst>
          </a:prstGeom>
          <a:solidFill>
            <a:srgbClr val="FFFFFF"/>
          </a:solidFill>
          <a:ln w="12700">
            <a:solidFill>
              <a:srgbClr val="E3DCD3"/>
            </a:solidFill>
            <a:prstDash val="solid"/>
          </a:ln>
        </p:spPr>
      </p:sp>
      <p:sp>
        <p:nvSpPr>
          <p:cNvPr id="9" name="Text 6"/>
          <p:cNvSpPr/>
          <p:nvPr/>
        </p:nvSpPr>
        <p:spPr>
          <a:xfrm>
            <a:off x="8595360" y="3083524"/>
            <a:ext cx="2743200" cy="365760"/>
          </a:xfrm>
          <a:prstGeom prst="rect">
            <a:avLst/>
          </a:prstGeom>
          <a:noFill/>
          <a:ln/>
        </p:spPr>
        <p:txBody>
          <a:bodyPr wrap="square" rtlCol="0" anchor="ctr"/>
          <a:lstStyle/>
          <a:p>
            <a:pPr marL="0" indent="0">
              <a:buNone/>
            </a:pPr>
            <a:r>
              <a:rPr lang="en-US" sz="1600" b="1" dirty="0">
                <a:solidFill>
                  <a:srgbClr val="3A2A22"/>
                </a:solidFill>
                <a:latin typeface="Calibri" pitchFamily="34" charset="0"/>
                <a:ea typeface="Calibri" pitchFamily="34" charset="-122"/>
                <a:cs typeface="Calibri" pitchFamily="34" charset="-120"/>
              </a:rPr>
              <a:t>Jollof &amp; Chicken</a:t>
            </a:r>
            <a:endParaRPr lang="en-US" sz="1600" dirty="0"/>
          </a:p>
        </p:txBody>
      </p:sp>
      <p:sp>
        <p:nvSpPr>
          <p:cNvPr id="10" name="Text 7"/>
          <p:cNvSpPr/>
          <p:nvPr/>
        </p:nvSpPr>
        <p:spPr>
          <a:xfrm>
            <a:off x="8595360" y="3528352"/>
            <a:ext cx="2743200" cy="954294"/>
          </a:xfrm>
          <a:prstGeom prst="rect">
            <a:avLst/>
          </a:prstGeom>
          <a:noFill/>
          <a:ln/>
        </p:spPr>
        <p:txBody>
          <a:bodyPr wrap="square" rtlCol="0" anchor="ctr"/>
          <a:lstStyle/>
          <a:p>
            <a:pPr marL="0" indent="0">
              <a:buNone/>
            </a:pPr>
            <a:r>
              <a:rPr lang="en-US" sz="1400" dirty="0">
                <a:solidFill>
                  <a:srgbClr val="36454F"/>
                </a:solidFill>
                <a:latin typeface="Calibri" pitchFamily="34" charset="0"/>
                <a:ea typeface="Calibri" pitchFamily="34" charset="-122"/>
                <a:cs typeface="Calibri" pitchFamily="34" charset="-120"/>
              </a:rPr>
              <a:t>is served most often (Mon &amp; Thu), has the highest sales but earns the lowest revenue per day – GHS39.01 - and has below average rating of 4.26</a:t>
            </a:r>
            <a:endParaRPr lang="en-US" sz="1400" dirty="0"/>
          </a:p>
        </p:txBody>
      </p:sp>
      <p:sp>
        <p:nvSpPr>
          <p:cNvPr id="11" name="Text 8"/>
          <p:cNvSpPr/>
          <p:nvPr/>
        </p:nvSpPr>
        <p:spPr>
          <a:xfrm>
            <a:off x="457200" y="6446520"/>
            <a:ext cx="5486400" cy="274320"/>
          </a:xfrm>
          <a:prstGeom prst="rect">
            <a:avLst/>
          </a:prstGeom>
          <a:noFill/>
          <a:ln/>
        </p:spPr>
        <p:txBody>
          <a:bodyPr wrap="square" rtlCol="0" anchor="ctr"/>
          <a:lstStyle/>
          <a:p>
            <a:pPr marL="0" indent="0">
              <a:buNone/>
            </a:pPr>
            <a:r>
              <a:rPr lang="en-US" sz="1000" dirty="0">
                <a:solidFill>
                  <a:srgbClr val="9AA5AA"/>
                </a:solidFill>
                <a:latin typeface="Calibri" pitchFamily="34" charset="0"/>
                <a:ea typeface="Calibri" pitchFamily="34" charset="-122"/>
                <a:cs typeface="Calibri" pitchFamily="34" charset="-120"/>
              </a:rPr>
              <a:t>Tasty Bites · Sales &amp; Customer Insights</a:t>
            </a:r>
            <a:endParaRPr lang="en-US" sz="1000" dirty="0"/>
          </a:p>
        </p:txBody>
      </p:sp>
      <p:sp>
        <p:nvSpPr>
          <p:cNvPr id="12" name="Text 9"/>
          <p:cNvSpPr/>
          <p:nvPr/>
        </p:nvSpPr>
        <p:spPr>
          <a:xfrm>
            <a:off x="11274552" y="6446520"/>
            <a:ext cx="457200" cy="274320"/>
          </a:xfrm>
          <a:prstGeom prst="rect">
            <a:avLst/>
          </a:prstGeom>
          <a:noFill/>
          <a:ln/>
        </p:spPr>
        <p:txBody>
          <a:bodyPr wrap="square" rtlCol="0" anchor="ctr"/>
          <a:lstStyle/>
          <a:p>
            <a:pPr marL="0" indent="0" algn="r">
              <a:buNone/>
            </a:pPr>
            <a:r>
              <a:rPr lang="en-US" sz="1000" dirty="0">
                <a:solidFill>
                  <a:srgbClr val="9AA5AA"/>
                </a:solidFill>
                <a:latin typeface="Calibri" pitchFamily="34" charset="0"/>
                <a:ea typeface="Calibri" pitchFamily="34" charset="-122"/>
                <a:cs typeface="Calibri" pitchFamily="34" charset="-120"/>
              </a:rPr>
              <a:t>5</a:t>
            </a:r>
            <a:endParaRPr lang="en-US" sz="1000" dirty="0"/>
          </a:p>
        </p:txBody>
      </p:sp>
      <p:sp>
        <p:nvSpPr>
          <p:cNvPr id="13" name="Shape 5">
            <a:extLst>
              <a:ext uri="{FF2B5EF4-FFF2-40B4-BE49-F238E27FC236}">
                <a16:creationId xmlns:a16="http://schemas.microsoft.com/office/drawing/2014/main" id="{634F7024-FFFF-44CB-AA42-2429D865C687}"/>
              </a:ext>
            </a:extLst>
          </p:cNvPr>
          <p:cNvSpPr/>
          <p:nvPr/>
        </p:nvSpPr>
        <p:spPr>
          <a:xfrm>
            <a:off x="8442960" y="4798691"/>
            <a:ext cx="3200400" cy="1806390"/>
          </a:xfrm>
          <a:prstGeom prst="roundRect">
            <a:avLst>
              <a:gd name="adj" fmla="val 3333"/>
            </a:avLst>
          </a:prstGeom>
          <a:solidFill>
            <a:schemeClr val="accent6">
              <a:lumMod val="20000"/>
              <a:lumOff val="80000"/>
            </a:schemeClr>
          </a:solidFill>
          <a:ln w="12700">
            <a:solidFill>
              <a:srgbClr val="E3DCD3"/>
            </a:solidFill>
            <a:prstDash val="solid"/>
          </a:ln>
        </p:spPr>
        <p:txBody>
          <a:bodyPr/>
          <a:lstStyle/>
          <a:p>
            <a:endParaRPr lang="en-GB" dirty="0"/>
          </a:p>
        </p:txBody>
      </p:sp>
      <p:sp>
        <p:nvSpPr>
          <p:cNvPr id="15" name="Text 7">
            <a:extLst>
              <a:ext uri="{FF2B5EF4-FFF2-40B4-BE49-F238E27FC236}">
                <a16:creationId xmlns:a16="http://schemas.microsoft.com/office/drawing/2014/main" id="{5F05BE41-1F28-4378-BBBF-4EDF84896D30}"/>
              </a:ext>
            </a:extLst>
          </p:cNvPr>
          <p:cNvSpPr/>
          <p:nvPr/>
        </p:nvSpPr>
        <p:spPr>
          <a:xfrm>
            <a:off x="8549640" y="5152853"/>
            <a:ext cx="2743200" cy="1398614"/>
          </a:xfrm>
          <a:prstGeom prst="rect">
            <a:avLst/>
          </a:prstGeom>
          <a:noFill/>
          <a:ln/>
        </p:spPr>
        <p:txBody>
          <a:bodyPr wrap="square" rtlCol="0" anchor="ctr"/>
          <a:lstStyle/>
          <a:p>
            <a:pPr marL="0" indent="0">
              <a:buNone/>
            </a:pPr>
            <a:r>
              <a:rPr lang="en-GB" sz="1400" dirty="0"/>
              <a:t>Customers prefer jollof &amp; chicken. Introducing premium meal bundles or promotional add-ons with it could encourage customers to spend more per order and increase overall revenue.</a:t>
            </a:r>
            <a:endParaRPr lang="en-US" sz="1400" dirty="0"/>
          </a:p>
        </p:txBody>
      </p:sp>
      <p:sp>
        <p:nvSpPr>
          <p:cNvPr id="16" name="Text 6">
            <a:extLst>
              <a:ext uri="{FF2B5EF4-FFF2-40B4-BE49-F238E27FC236}">
                <a16:creationId xmlns:a16="http://schemas.microsoft.com/office/drawing/2014/main" id="{8328F0ED-9453-4FB0-92AF-A985E4D1B864}"/>
              </a:ext>
            </a:extLst>
          </p:cNvPr>
          <p:cNvSpPr/>
          <p:nvPr/>
        </p:nvSpPr>
        <p:spPr>
          <a:xfrm>
            <a:off x="8531352" y="4770510"/>
            <a:ext cx="2743200" cy="365760"/>
          </a:xfrm>
          <a:prstGeom prst="rect">
            <a:avLst/>
          </a:prstGeom>
          <a:noFill/>
          <a:ln/>
        </p:spPr>
        <p:txBody>
          <a:bodyPr wrap="square" rtlCol="0" anchor="ctr"/>
          <a:lstStyle/>
          <a:p>
            <a:pPr marL="0" indent="0">
              <a:buNone/>
            </a:pPr>
            <a:r>
              <a:rPr lang="en-US" sz="1600" b="1" dirty="0">
                <a:solidFill>
                  <a:srgbClr val="3A2A22"/>
                </a:solidFill>
                <a:latin typeface="Calibri" pitchFamily="34" charset="0"/>
                <a:ea typeface="Calibri" pitchFamily="34" charset="-122"/>
                <a:cs typeface="Calibri" pitchFamily="34" charset="-120"/>
              </a:rPr>
              <a:t>Takeaway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640080"/>
          </a:xfrm>
          <a:prstGeom prst="rect">
            <a:avLst/>
          </a:prstGeom>
          <a:noFill/>
          <a:ln/>
        </p:spPr>
        <p:txBody>
          <a:bodyPr wrap="square" rtlCol="0" anchor="ctr"/>
          <a:lstStyle/>
          <a:p>
            <a:pPr marL="0" indent="0">
              <a:buNone/>
            </a:pPr>
            <a:r>
              <a:rPr lang="en-US" sz="3000" b="1" dirty="0">
                <a:solidFill>
                  <a:srgbClr val="3A2A22"/>
                </a:solidFill>
                <a:latin typeface="Cambria" pitchFamily="34" charset="0"/>
                <a:ea typeface="Cambria" pitchFamily="34" charset="-122"/>
                <a:cs typeface="Cambria" pitchFamily="34" charset="-120"/>
              </a:rPr>
              <a:t>Happier Customers Spend More</a:t>
            </a:r>
            <a:endParaRPr lang="en-US" sz="3000" dirty="0"/>
          </a:p>
        </p:txBody>
      </p:sp>
      <p:sp>
        <p:nvSpPr>
          <p:cNvPr id="3" name="Text 1"/>
          <p:cNvSpPr/>
          <p:nvPr/>
        </p:nvSpPr>
        <p:spPr>
          <a:xfrm>
            <a:off x="548640" y="1005840"/>
            <a:ext cx="8229600" cy="365760"/>
          </a:xfrm>
          <a:prstGeom prst="rect">
            <a:avLst/>
          </a:prstGeom>
          <a:noFill/>
          <a:ln/>
        </p:spPr>
        <p:txBody>
          <a:bodyPr wrap="square" rtlCol="0" anchor="ctr"/>
          <a:lstStyle/>
          <a:p>
            <a:pPr marL="0" indent="0">
              <a:buNone/>
            </a:pPr>
            <a:r>
              <a:rPr lang="en-US" sz="1400" dirty="0">
                <a:solidFill>
                  <a:srgbClr val="36454F"/>
                </a:solidFill>
                <a:latin typeface="Calibri" pitchFamily="34" charset="0"/>
                <a:ea typeface="Calibri" pitchFamily="34" charset="-122"/>
                <a:cs typeface="Calibri" pitchFamily="34" charset="-120"/>
              </a:rPr>
              <a:t>Customer feedback score vs. daily sales and customer traffic</a:t>
            </a:r>
            <a:endParaRPr lang="en-US" sz="1400" dirty="0"/>
          </a:p>
        </p:txBody>
      </p:sp>
      <p:sp>
        <p:nvSpPr>
          <p:cNvPr id="4" name="Shape 2"/>
          <p:cNvSpPr/>
          <p:nvPr/>
        </p:nvSpPr>
        <p:spPr>
          <a:xfrm>
            <a:off x="548640" y="1554480"/>
            <a:ext cx="3474720" cy="1371600"/>
          </a:xfrm>
          <a:prstGeom prst="roundRect">
            <a:avLst>
              <a:gd name="adj" fmla="val 5333"/>
            </a:avLst>
          </a:prstGeom>
          <a:solidFill>
            <a:srgbClr val="FFFFFF"/>
          </a:solidFill>
          <a:ln w="12700">
            <a:solidFill>
              <a:srgbClr val="E3DCD3"/>
            </a:solidFill>
            <a:prstDash val="solid"/>
          </a:ln>
        </p:spPr>
      </p:sp>
      <p:sp>
        <p:nvSpPr>
          <p:cNvPr id="5" name="Text 3"/>
          <p:cNvSpPr/>
          <p:nvPr/>
        </p:nvSpPr>
        <p:spPr>
          <a:xfrm>
            <a:off x="548640" y="1691640"/>
            <a:ext cx="3474720" cy="548640"/>
          </a:xfrm>
          <a:prstGeom prst="rect">
            <a:avLst/>
          </a:prstGeom>
          <a:noFill/>
          <a:ln/>
        </p:spPr>
        <p:txBody>
          <a:bodyPr wrap="square" rtlCol="0" anchor="ctr"/>
          <a:lstStyle/>
          <a:p>
            <a:pPr marL="0" indent="0" algn="ctr">
              <a:buNone/>
            </a:pPr>
            <a:r>
              <a:rPr lang="en-US" sz="2400" b="1" dirty="0">
                <a:solidFill>
                  <a:srgbClr val="B85042"/>
                </a:solidFill>
                <a:latin typeface="Cambria" pitchFamily="34" charset="0"/>
                <a:ea typeface="Cambria" pitchFamily="34" charset="-122"/>
                <a:cs typeface="Cambria" pitchFamily="34" charset="-120"/>
              </a:rPr>
              <a:t>+0.48</a:t>
            </a:r>
            <a:endParaRPr lang="en-US" sz="2400" dirty="0"/>
          </a:p>
        </p:txBody>
      </p:sp>
      <p:sp>
        <p:nvSpPr>
          <p:cNvPr id="6" name="Text 4"/>
          <p:cNvSpPr/>
          <p:nvPr/>
        </p:nvSpPr>
        <p:spPr>
          <a:xfrm>
            <a:off x="685800" y="2286000"/>
            <a:ext cx="3200400" cy="548640"/>
          </a:xfrm>
          <a:prstGeom prst="rect">
            <a:avLst/>
          </a:prstGeom>
          <a:noFill/>
          <a:ln/>
        </p:spPr>
        <p:txBody>
          <a:bodyPr wrap="square" rtlCol="0" anchor="ctr"/>
          <a:lstStyle/>
          <a:p>
            <a:pPr marL="0" indent="0" algn="ctr">
              <a:buNone/>
            </a:pPr>
            <a:r>
              <a:rPr lang="en-US" sz="1100" dirty="0">
                <a:solidFill>
                  <a:srgbClr val="36454F"/>
                </a:solidFill>
                <a:latin typeface="Calibri" pitchFamily="34" charset="0"/>
                <a:ea typeface="Calibri" pitchFamily="34" charset="-122"/>
                <a:cs typeface="Calibri" pitchFamily="34" charset="-120"/>
              </a:rPr>
              <a:t>moderate positive correlation: feedback ↔ sales</a:t>
            </a:r>
            <a:endParaRPr lang="en-US" sz="1100" dirty="0"/>
          </a:p>
        </p:txBody>
      </p:sp>
      <p:sp>
        <p:nvSpPr>
          <p:cNvPr id="7" name="Shape 5"/>
          <p:cNvSpPr/>
          <p:nvPr/>
        </p:nvSpPr>
        <p:spPr>
          <a:xfrm>
            <a:off x="4297680" y="1554480"/>
            <a:ext cx="3474720" cy="1371600"/>
          </a:xfrm>
          <a:prstGeom prst="roundRect">
            <a:avLst>
              <a:gd name="adj" fmla="val 5333"/>
            </a:avLst>
          </a:prstGeom>
          <a:solidFill>
            <a:srgbClr val="FFFFFF"/>
          </a:solidFill>
          <a:ln w="12700">
            <a:solidFill>
              <a:srgbClr val="E3DCD3"/>
            </a:solidFill>
            <a:prstDash val="solid"/>
          </a:ln>
        </p:spPr>
      </p:sp>
      <p:sp>
        <p:nvSpPr>
          <p:cNvPr id="8" name="Text 6"/>
          <p:cNvSpPr/>
          <p:nvPr/>
        </p:nvSpPr>
        <p:spPr>
          <a:xfrm>
            <a:off x="4297680" y="1691640"/>
            <a:ext cx="3474720" cy="548640"/>
          </a:xfrm>
          <a:prstGeom prst="rect">
            <a:avLst/>
          </a:prstGeom>
          <a:noFill/>
          <a:ln/>
        </p:spPr>
        <p:txBody>
          <a:bodyPr wrap="square" rtlCol="0" anchor="ctr"/>
          <a:lstStyle/>
          <a:p>
            <a:pPr marL="0" indent="0" algn="ctr">
              <a:buNone/>
            </a:pPr>
            <a:r>
              <a:rPr lang="en-US" sz="2400" b="1" dirty="0">
                <a:solidFill>
                  <a:srgbClr val="B85042"/>
                </a:solidFill>
                <a:latin typeface="Cambria" pitchFamily="34" charset="0"/>
                <a:ea typeface="Cambria" pitchFamily="34" charset="-122"/>
                <a:cs typeface="Cambria" pitchFamily="34" charset="-120"/>
              </a:rPr>
              <a:t>+0.47</a:t>
            </a:r>
            <a:endParaRPr lang="en-US" sz="2400" dirty="0"/>
          </a:p>
        </p:txBody>
      </p:sp>
      <p:sp>
        <p:nvSpPr>
          <p:cNvPr id="9" name="Text 7"/>
          <p:cNvSpPr/>
          <p:nvPr/>
        </p:nvSpPr>
        <p:spPr>
          <a:xfrm>
            <a:off x="4297680" y="2286000"/>
            <a:ext cx="3337560" cy="548640"/>
          </a:xfrm>
          <a:prstGeom prst="rect">
            <a:avLst/>
          </a:prstGeom>
          <a:noFill/>
          <a:ln/>
        </p:spPr>
        <p:txBody>
          <a:bodyPr wrap="square" rtlCol="0" anchor="ctr"/>
          <a:lstStyle/>
          <a:p>
            <a:pPr marL="0" indent="0" algn="ctr">
              <a:buNone/>
            </a:pPr>
            <a:r>
              <a:rPr lang="en-US" sz="1100" dirty="0">
                <a:solidFill>
                  <a:srgbClr val="36454F"/>
                </a:solidFill>
                <a:latin typeface="Calibri" pitchFamily="34" charset="0"/>
                <a:ea typeface="Calibri" pitchFamily="34" charset="-122"/>
                <a:cs typeface="Calibri" pitchFamily="34" charset="-120"/>
              </a:rPr>
              <a:t>moderate positive correlation: feedback ↔ customers</a:t>
            </a:r>
            <a:endParaRPr lang="en-US" sz="1100" dirty="0"/>
          </a:p>
        </p:txBody>
      </p:sp>
      <p:sp>
        <p:nvSpPr>
          <p:cNvPr id="10" name="Shape 8"/>
          <p:cNvSpPr/>
          <p:nvPr/>
        </p:nvSpPr>
        <p:spPr>
          <a:xfrm>
            <a:off x="8046720" y="1554480"/>
            <a:ext cx="3474720" cy="1371600"/>
          </a:xfrm>
          <a:prstGeom prst="roundRect">
            <a:avLst>
              <a:gd name="adj" fmla="val 5333"/>
            </a:avLst>
          </a:prstGeom>
          <a:solidFill>
            <a:srgbClr val="FFFFFF"/>
          </a:solidFill>
          <a:ln w="12700">
            <a:solidFill>
              <a:srgbClr val="E3DCD3"/>
            </a:solidFill>
            <a:prstDash val="solid"/>
          </a:ln>
        </p:spPr>
      </p:sp>
      <p:sp>
        <p:nvSpPr>
          <p:cNvPr id="11" name="Text 9"/>
          <p:cNvSpPr/>
          <p:nvPr/>
        </p:nvSpPr>
        <p:spPr>
          <a:xfrm>
            <a:off x="8046720" y="1691640"/>
            <a:ext cx="3474720" cy="548640"/>
          </a:xfrm>
          <a:prstGeom prst="rect">
            <a:avLst/>
          </a:prstGeom>
          <a:noFill/>
          <a:ln/>
        </p:spPr>
        <p:txBody>
          <a:bodyPr wrap="square" rtlCol="0" anchor="ctr"/>
          <a:lstStyle/>
          <a:p>
            <a:pPr marL="0" indent="0" algn="ctr">
              <a:buNone/>
            </a:pPr>
            <a:r>
              <a:rPr lang="en-US" sz="2400" b="1" dirty="0">
                <a:solidFill>
                  <a:srgbClr val="B85042"/>
                </a:solidFill>
                <a:latin typeface="Cambria" pitchFamily="34" charset="0"/>
                <a:ea typeface="Cambria" pitchFamily="34" charset="-122"/>
                <a:cs typeface="Cambria" pitchFamily="34" charset="-120"/>
              </a:rPr>
              <a:t>8 days</a:t>
            </a:r>
            <a:endParaRPr lang="en-US" sz="2400" dirty="0"/>
          </a:p>
        </p:txBody>
      </p:sp>
      <p:sp>
        <p:nvSpPr>
          <p:cNvPr id="12" name="Text 10"/>
          <p:cNvSpPr/>
          <p:nvPr/>
        </p:nvSpPr>
        <p:spPr>
          <a:xfrm>
            <a:off x="8183880" y="2286000"/>
            <a:ext cx="3200400" cy="548640"/>
          </a:xfrm>
          <a:prstGeom prst="rect">
            <a:avLst/>
          </a:prstGeom>
          <a:noFill/>
          <a:ln/>
        </p:spPr>
        <p:txBody>
          <a:bodyPr wrap="square" rtlCol="0" anchor="ctr"/>
          <a:lstStyle/>
          <a:p>
            <a:pPr marL="0" indent="0" algn="ctr">
              <a:buNone/>
            </a:pPr>
            <a:r>
              <a:rPr lang="en-US" sz="1100" dirty="0">
                <a:solidFill>
                  <a:srgbClr val="36454F"/>
                </a:solidFill>
                <a:latin typeface="Calibri" pitchFamily="34" charset="0"/>
                <a:ea typeface="Calibri" pitchFamily="34" charset="-122"/>
                <a:cs typeface="Calibri" pitchFamily="34" charset="-120"/>
              </a:rPr>
              <a:t>scored below 4.0 — all on Mon/Thu, no promo</a:t>
            </a:r>
            <a:endParaRPr lang="en-US" sz="1100" dirty="0"/>
          </a:p>
        </p:txBody>
      </p:sp>
      <p:graphicFrame>
        <p:nvGraphicFramePr>
          <p:cNvPr id="13" name="Chart 0"/>
          <p:cNvGraphicFramePr/>
          <p:nvPr/>
        </p:nvGraphicFramePr>
        <p:xfrm>
          <a:off x="548640" y="3200400"/>
          <a:ext cx="1106424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11"/>
          <p:cNvSpPr/>
          <p:nvPr/>
        </p:nvSpPr>
        <p:spPr>
          <a:xfrm>
            <a:off x="457200" y="6446520"/>
            <a:ext cx="5486400" cy="274320"/>
          </a:xfrm>
          <a:prstGeom prst="rect">
            <a:avLst/>
          </a:prstGeom>
          <a:noFill/>
          <a:ln/>
        </p:spPr>
        <p:txBody>
          <a:bodyPr wrap="square" rtlCol="0" anchor="ctr"/>
          <a:lstStyle/>
          <a:p>
            <a:pPr marL="0" indent="0">
              <a:buNone/>
            </a:pPr>
            <a:r>
              <a:rPr lang="en-US" sz="1000" dirty="0">
                <a:solidFill>
                  <a:srgbClr val="9AA5AA"/>
                </a:solidFill>
                <a:latin typeface="Calibri" pitchFamily="34" charset="0"/>
                <a:ea typeface="Calibri" pitchFamily="34" charset="-122"/>
                <a:cs typeface="Calibri" pitchFamily="34" charset="-120"/>
              </a:rPr>
              <a:t>Tasty Bites · Sales &amp; Customer Insights</a:t>
            </a:r>
            <a:endParaRPr lang="en-US" sz="1000" dirty="0"/>
          </a:p>
        </p:txBody>
      </p:sp>
      <p:sp>
        <p:nvSpPr>
          <p:cNvPr id="15" name="Text 12"/>
          <p:cNvSpPr/>
          <p:nvPr/>
        </p:nvSpPr>
        <p:spPr>
          <a:xfrm>
            <a:off x="11274552" y="6446520"/>
            <a:ext cx="457200" cy="274320"/>
          </a:xfrm>
          <a:prstGeom prst="rect">
            <a:avLst/>
          </a:prstGeom>
          <a:noFill/>
          <a:ln/>
        </p:spPr>
        <p:txBody>
          <a:bodyPr wrap="square" rtlCol="0" anchor="ctr"/>
          <a:lstStyle/>
          <a:p>
            <a:pPr marL="0" indent="0" algn="r">
              <a:buNone/>
            </a:pPr>
            <a:r>
              <a:rPr lang="en-US" sz="1000" dirty="0">
                <a:solidFill>
                  <a:srgbClr val="9AA5AA"/>
                </a:solidFill>
                <a:latin typeface="Calibri" pitchFamily="34" charset="0"/>
                <a:ea typeface="Calibri" pitchFamily="34" charset="-122"/>
                <a:cs typeface="Calibri" pitchFamily="34" charset="-120"/>
              </a:rPr>
              <a:t>6</a:t>
            </a:r>
            <a:endParaRPr lang="en-US" sz="1000" dirty="0"/>
          </a:p>
        </p:txBody>
      </p:sp>
    </p:spTree>
    <p:extLst>
      <p:ext uri="{BB962C8B-B14F-4D97-AF65-F5344CB8AC3E}">
        <p14:creationId xmlns:p14="http://schemas.microsoft.com/office/powerpoint/2010/main" val="3124619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3A2A22"/>
        </a:solidFill>
        <a:effectLst/>
      </p:bgPr>
    </p:bg>
    <p:spTree>
      <p:nvGrpSpPr>
        <p:cNvPr id="1" name=""/>
        <p:cNvGrpSpPr/>
        <p:nvPr/>
      </p:nvGrpSpPr>
      <p:grpSpPr>
        <a:xfrm>
          <a:off x="0" y="0"/>
          <a:ext cx="0" cy="0"/>
          <a:chOff x="0" y="0"/>
          <a:chExt cx="0" cy="0"/>
        </a:xfrm>
      </p:grpSpPr>
      <p:sp>
        <p:nvSpPr>
          <p:cNvPr id="2" name="Text 0"/>
          <p:cNvSpPr/>
          <p:nvPr/>
        </p:nvSpPr>
        <p:spPr>
          <a:xfrm>
            <a:off x="548640" y="252920"/>
            <a:ext cx="100584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Three Moves to Grow Revenue</a:t>
            </a:r>
            <a:endParaRPr lang="en-US" sz="3200" dirty="0"/>
          </a:p>
        </p:txBody>
      </p:sp>
      <p:sp>
        <p:nvSpPr>
          <p:cNvPr id="3" name="Text 1"/>
          <p:cNvSpPr/>
          <p:nvPr/>
        </p:nvSpPr>
        <p:spPr>
          <a:xfrm>
            <a:off x="548640" y="776264"/>
            <a:ext cx="8229600" cy="365760"/>
          </a:xfrm>
          <a:prstGeom prst="rect">
            <a:avLst/>
          </a:prstGeom>
          <a:noFill/>
          <a:ln/>
        </p:spPr>
        <p:txBody>
          <a:bodyPr wrap="square" rtlCol="0" anchor="ctr"/>
          <a:lstStyle/>
          <a:p>
            <a:pPr marL="0" indent="0">
              <a:buNone/>
            </a:pPr>
            <a:r>
              <a:rPr lang="en-US" sz="1400" dirty="0">
                <a:solidFill>
                  <a:srgbClr val="E7E8D1"/>
                </a:solidFill>
                <a:latin typeface="Calibri" pitchFamily="34" charset="0"/>
                <a:ea typeface="Calibri" pitchFamily="34" charset="-122"/>
                <a:cs typeface="Calibri" pitchFamily="34" charset="-120"/>
              </a:rPr>
              <a:t>Recommended actions for the next quarter</a:t>
            </a:r>
            <a:endParaRPr lang="en-US" sz="1400" dirty="0"/>
          </a:p>
        </p:txBody>
      </p:sp>
      <p:sp>
        <p:nvSpPr>
          <p:cNvPr id="8" name="Shape 6"/>
          <p:cNvSpPr/>
          <p:nvPr/>
        </p:nvSpPr>
        <p:spPr>
          <a:xfrm>
            <a:off x="4343400" y="1196480"/>
            <a:ext cx="3520440" cy="4206240"/>
          </a:xfrm>
          <a:prstGeom prst="roundRect">
            <a:avLst>
              <a:gd name="adj" fmla="val 2597"/>
            </a:avLst>
          </a:prstGeom>
          <a:solidFill>
            <a:srgbClr val="4A362B"/>
          </a:solidFill>
          <a:ln/>
        </p:spPr>
        <p:txBody>
          <a:bodyPr/>
          <a:lstStyle/>
          <a:p>
            <a:endParaRPr lang="en-GB" dirty="0"/>
          </a:p>
        </p:txBody>
      </p:sp>
      <p:sp>
        <p:nvSpPr>
          <p:cNvPr id="9" name="Text 7"/>
          <p:cNvSpPr/>
          <p:nvPr/>
        </p:nvSpPr>
        <p:spPr>
          <a:xfrm>
            <a:off x="4572000" y="1379360"/>
            <a:ext cx="1371600" cy="731520"/>
          </a:xfrm>
          <a:prstGeom prst="rect">
            <a:avLst/>
          </a:prstGeom>
          <a:noFill/>
          <a:ln/>
        </p:spPr>
        <p:txBody>
          <a:bodyPr wrap="square" rtlCol="0" anchor="ctr"/>
          <a:lstStyle/>
          <a:p>
            <a:pPr marL="0" indent="0">
              <a:buNone/>
            </a:pPr>
            <a:r>
              <a:rPr lang="en-US" sz="3000" b="1" dirty="0">
                <a:solidFill>
                  <a:srgbClr val="D99A5B"/>
                </a:solidFill>
                <a:latin typeface="Cambria" pitchFamily="34" charset="0"/>
                <a:ea typeface="Cambria" pitchFamily="34" charset="-122"/>
                <a:cs typeface="Cambria" pitchFamily="34" charset="-120"/>
              </a:rPr>
              <a:t>02</a:t>
            </a:r>
            <a:endParaRPr lang="en-US" sz="3000" dirty="0"/>
          </a:p>
        </p:txBody>
      </p:sp>
      <p:sp>
        <p:nvSpPr>
          <p:cNvPr id="10" name="Text 8"/>
          <p:cNvSpPr/>
          <p:nvPr/>
        </p:nvSpPr>
        <p:spPr>
          <a:xfrm>
            <a:off x="4503420" y="1897843"/>
            <a:ext cx="3063240" cy="8229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Prepare for Peak Days</a:t>
            </a:r>
            <a:endParaRPr lang="en-US" sz="1600" dirty="0"/>
          </a:p>
        </p:txBody>
      </p:sp>
      <p:sp>
        <p:nvSpPr>
          <p:cNvPr id="11" name="Text 9"/>
          <p:cNvSpPr/>
          <p:nvPr/>
        </p:nvSpPr>
        <p:spPr>
          <a:xfrm>
            <a:off x="4564380" y="2545705"/>
            <a:ext cx="3063240" cy="914400"/>
          </a:xfrm>
          <a:prstGeom prst="rect">
            <a:avLst/>
          </a:prstGeom>
          <a:noFill/>
          <a:ln/>
        </p:spPr>
        <p:txBody>
          <a:bodyPr wrap="square" rtlCol="0" anchor="ctr"/>
          <a:lstStyle/>
          <a:p>
            <a:pPr marL="0" indent="0">
              <a:buNone/>
            </a:pPr>
            <a:r>
              <a:rPr lang="en-GB" sz="1300" dirty="0">
                <a:solidFill>
                  <a:schemeClr val="accent4">
                    <a:lumMod val="20000"/>
                    <a:lumOff val="80000"/>
                  </a:schemeClr>
                </a:solidFill>
              </a:rPr>
              <a:t>Schedule additional staff and increase inventory on busiest days – Saturday &amp; Sunday.</a:t>
            </a:r>
            <a:endParaRPr lang="en-US" sz="1300" dirty="0">
              <a:solidFill>
                <a:schemeClr val="accent4">
                  <a:lumMod val="20000"/>
                  <a:lumOff val="80000"/>
                </a:schemeClr>
              </a:solidFill>
            </a:endParaRPr>
          </a:p>
        </p:txBody>
      </p:sp>
      <p:sp>
        <p:nvSpPr>
          <p:cNvPr id="12" name="Shape 10"/>
          <p:cNvSpPr/>
          <p:nvPr/>
        </p:nvSpPr>
        <p:spPr>
          <a:xfrm>
            <a:off x="8138160" y="1196480"/>
            <a:ext cx="3520440" cy="4206240"/>
          </a:xfrm>
          <a:prstGeom prst="roundRect">
            <a:avLst>
              <a:gd name="adj" fmla="val 2597"/>
            </a:avLst>
          </a:prstGeom>
          <a:solidFill>
            <a:srgbClr val="4A362B"/>
          </a:solidFill>
          <a:ln/>
        </p:spPr>
      </p:sp>
      <p:sp>
        <p:nvSpPr>
          <p:cNvPr id="13" name="Text 11"/>
          <p:cNvSpPr/>
          <p:nvPr/>
        </p:nvSpPr>
        <p:spPr>
          <a:xfrm>
            <a:off x="8366760" y="1379360"/>
            <a:ext cx="1371600" cy="731520"/>
          </a:xfrm>
          <a:prstGeom prst="rect">
            <a:avLst/>
          </a:prstGeom>
          <a:noFill/>
          <a:ln/>
        </p:spPr>
        <p:txBody>
          <a:bodyPr wrap="square" rtlCol="0" anchor="ctr"/>
          <a:lstStyle/>
          <a:p>
            <a:pPr marL="0" indent="0">
              <a:buNone/>
            </a:pPr>
            <a:r>
              <a:rPr lang="en-US" sz="3000" b="1" dirty="0">
                <a:solidFill>
                  <a:srgbClr val="D99A5B"/>
                </a:solidFill>
                <a:latin typeface="Cambria" pitchFamily="34" charset="0"/>
                <a:ea typeface="Cambria" pitchFamily="34" charset="-122"/>
                <a:cs typeface="Cambria" pitchFamily="34" charset="-120"/>
              </a:rPr>
              <a:t>03</a:t>
            </a:r>
            <a:endParaRPr lang="en-US" sz="3000" dirty="0"/>
          </a:p>
        </p:txBody>
      </p:sp>
      <p:sp>
        <p:nvSpPr>
          <p:cNvPr id="14" name="Text 12"/>
          <p:cNvSpPr/>
          <p:nvPr/>
        </p:nvSpPr>
        <p:spPr>
          <a:xfrm>
            <a:off x="442851" y="5621744"/>
            <a:ext cx="11001497" cy="605752"/>
          </a:xfrm>
          <a:prstGeom prst="rect">
            <a:avLst/>
          </a:prstGeom>
          <a:noFill/>
          <a:ln/>
        </p:spPr>
        <p:txBody>
          <a:bodyPr wrap="square" rtlCol="0" anchor="ctr"/>
          <a:lstStyle/>
          <a:p>
            <a:pPr marL="0" indent="0">
              <a:buNone/>
            </a:pPr>
            <a:r>
              <a:rPr lang="en-GB" sz="1400" i="1" dirty="0">
                <a:solidFill>
                  <a:schemeClr val="bg1"/>
                </a:solidFill>
              </a:rPr>
              <a:t>Bonus - Build a Power BI early-warning dashboard to monitor daily sales and customer feedback, allowing issues to be identified and addressed quickly.</a:t>
            </a:r>
            <a:endParaRPr lang="en-US" sz="1400" i="1" dirty="0">
              <a:solidFill>
                <a:schemeClr val="bg1"/>
              </a:solidFill>
            </a:endParaRPr>
          </a:p>
        </p:txBody>
      </p:sp>
      <p:sp>
        <p:nvSpPr>
          <p:cNvPr id="16" name="Text 14"/>
          <p:cNvSpPr/>
          <p:nvPr/>
        </p:nvSpPr>
        <p:spPr>
          <a:xfrm>
            <a:off x="457200" y="6446520"/>
            <a:ext cx="5486400" cy="274320"/>
          </a:xfrm>
          <a:prstGeom prst="rect">
            <a:avLst/>
          </a:prstGeom>
          <a:noFill/>
          <a:ln/>
        </p:spPr>
        <p:txBody>
          <a:bodyPr wrap="square" rtlCol="0" anchor="ctr"/>
          <a:lstStyle/>
          <a:p>
            <a:pPr marL="0" indent="0">
              <a:buNone/>
            </a:pPr>
            <a:r>
              <a:rPr lang="en-US" sz="1000" dirty="0">
                <a:solidFill>
                  <a:srgbClr val="C9C0B8"/>
                </a:solidFill>
                <a:latin typeface="Calibri" pitchFamily="34" charset="0"/>
                <a:ea typeface="Calibri" pitchFamily="34" charset="-122"/>
                <a:cs typeface="Calibri" pitchFamily="34" charset="-120"/>
              </a:rPr>
              <a:t>Tasty Bites · Sales &amp; Customer Insights</a:t>
            </a:r>
            <a:endParaRPr lang="en-US" sz="1000" dirty="0"/>
          </a:p>
        </p:txBody>
      </p:sp>
      <p:sp>
        <p:nvSpPr>
          <p:cNvPr id="17" name="Text 15"/>
          <p:cNvSpPr/>
          <p:nvPr/>
        </p:nvSpPr>
        <p:spPr>
          <a:xfrm>
            <a:off x="11274552" y="6446520"/>
            <a:ext cx="457200" cy="274320"/>
          </a:xfrm>
          <a:prstGeom prst="rect">
            <a:avLst/>
          </a:prstGeom>
          <a:noFill/>
          <a:ln/>
        </p:spPr>
        <p:txBody>
          <a:bodyPr wrap="square" rtlCol="0" anchor="ctr"/>
          <a:lstStyle/>
          <a:p>
            <a:pPr marL="0" indent="0" algn="r">
              <a:buNone/>
            </a:pPr>
            <a:r>
              <a:rPr lang="en-US" sz="1000" dirty="0">
                <a:solidFill>
                  <a:srgbClr val="C9C0B8"/>
                </a:solidFill>
                <a:latin typeface="Calibri" pitchFamily="34" charset="0"/>
                <a:ea typeface="Calibri" pitchFamily="34" charset="-122"/>
                <a:cs typeface="Calibri" pitchFamily="34" charset="-120"/>
              </a:rPr>
              <a:t>7</a:t>
            </a:r>
            <a:endParaRPr lang="en-US" sz="1000" dirty="0"/>
          </a:p>
        </p:txBody>
      </p:sp>
      <p:sp>
        <p:nvSpPr>
          <p:cNvPr id="18" name="Text 9">
            <a:extLst>
              <a:ext uri="{FF2B5EF4-FFF2-40B4-BE49-F238E27FC236}">
                <a16:creationId xmlns:a16="http://schemas.microsoft.com/office/drawing/2014/main" id="{88204BAF-3AFB-4262-B31E-504178BDE021}"/>
              </a:ext>
            </a:extLst>
          </p:cNvPr>
          <p:cNvSpPr/>
          <p:nvPr/>
        </p:nvSpPr>
        <p:spPr>
          <a:xfrm>
            <a:off x="4503420" y="4059005"/>
            <a:ext cx="3360420" cy="1232819"/>
          </a:xfrm>
          <a:prstGeom prst="rect">
            <a:avLst/>
          </a:prstGeom>
          <a:noFill/>
          <a:ln/>
        </p:spPr>
        <p:txBody>
          <a:bodyPr wrap="square" rtlCol="0" anchor="ctr"/>
          <a:lstStyle/>
          <a:p>
            <a:pPr marL="0" indent="0">
              <a:buNone/>
            </a:pPr>
            <a:r>
              <a:rPr lang="en-US" sz="1300" dirty="0">
                <a:solidFill>
                  <a:srgbClr val="E7E8D1"/>
                </a:solidFill>
                <a:ea typeface="Calibri" pitchFamily="34" charset="-122"/>
                <a:cs typeface="Calibri" pitchFamily="34" charset="-120"/>
              </a:rPr>
              <a:t>As a proactive measure, customer experience will improve as there will be minimal </a:t>
            </a:r>
            <a:r>
              <a:rPr lang="en-GB" sz="1300" dirty="0">
                <a:solidFill>
                  <a:schemeClr val="accent4">
                    <a:lumMod val="20000"/>
                    <a:lumOff val="80000"/>
                  </a:schemeClr>
                </a:solidFill>
              </a:rPr>
              <a:t>waiting times during busy periods. This will improve repeat visits and referrals and revenue will increase.</a:t>
            </a:r>
            <a:endParaRPr lang="en-US" sz="1300" dirty="0"/>
          </a:p>
        </p:txBody>
      </p:sp>
      <p:sp>
        <p:nvSpPr>
          <p:cNvPr id="22" name="TextBox 21">
            <a:extLst>
              <a:ext uri="{FF2B5EF4-FFF2-40B4-BE49-F238E27FC236}">
                <a16:creationId xmlns:a16="http://schemas.microsoft.com/office/drawing/2014/main" id="{99DB51A0-4632-49D4-8E7A-E4ACACCD53E5}"/>
              </a:ext>
            </a:extLst>
          </p:cNvPr>
          <p:cNvSpPr txBox="1"/>
          <p:nvPr/>
        </p:nvSpPr>
        <p:spPr>
          <a:xfrm>
            <a:off x="4473264" y="3727229"/>
            <a:ext cx="2023353" cy="338554"/>
          </a:xfrm>
          <a:prstGeom prst="rect">
            <a:avLst/>
          </a:prstGeom>
          <a:noFill/>
        </p:spPr>
        <p:txBody>
          <a:bodyPr wrap="square" rtlCol="0">
            <a:spAutoFit/>
          </a:bodyPr>
          <a:lstStyle/>
          <a:p>
            <a:r>
              <a:rPr lang="en-GB" sz="1600" dirty="0">
                <a:solidFill>
                  <a:schemeClr val="accent2">
                    <a:lumMod val="60000"/>
                    <a:lumOff val="40000"/>
                  </a:schemeClr>
                </a:solidFill>
              </a:rPr>
              <a:t>Impact</a:t>
            </a:r>
          </a:p>
        </p:txBody>
      </p:sp>
      <p:sp>
        <p:nvSpPr>
          <p:cNvPr id="23" name="Text 5">
            <a:extLst>
              <a:ext uri="{FF2B5EF4-FFF2-40B4-BE49-F238E27FC236}">
                <a16:creationId xmlns:a16="http://schemas.microsoft.com/office/drawing/2014/main" id="{8A826BA9-B715-499B-9B5F-F3C2E533016D}"/>
              </a:ext>
            </a:extLst>
          </p:cNvPr>
          <p:cNvSpPr/>
          <p:nvPr/>
        </p:nvSpPr>
        <p:spPr>
          <a:xfrm>
            <a:off x="8260404" y="2499013"/>
            <a:ext cx="3368040" cy="1061288"/>
          </a:xfrm>
          <a:prstGeom prst="rect">
            <a:avLst/>
          </a:prstGeom>
          <a:noFill/>
          <a:ln/>
        </p:spPr>
        <p:txBody>
          <a:bodyPr wrap="square" rtlCol="0" anchor="ctr"/>
          <a:lstStyle/>
          <a:p>
            <a:pPr marL="0" indent="0">
              <a:buNone/>
            </a:pPr>
            <a:r>
              <a:rPr lang="en-GB" sz="1300" dirty="0">
                <a:solidFill>
                  <a:schemeClr val="accent4">
                    <a:lumMod val="20000"/>
                    <a:lumOff val="80000"/>
                  </a:schemeClr>
                </a:solidFill>
              </a:rPr>
              <a:t>Investigate the causes of lower customer feedback scores and improve service quality by reducing waiting times, training staff, or ensuring consistent food quality.</a:t>
            </a:r>
            <a:endParaRPr lang="en-US" sz="1300" dirty="0">
              <a:solidFill>
                <a:schemeClr val="accent4">
                  <a:lumMod val="20000"/>
                  <a:lumOff val="80000"/>
                </a:schemeClr>
              </a:solidFill>
            </a:endParaRPr>
          </a:p>
        </p:txBody>
      </p:sp>
      <p:sp>
        <p:nvSpPr>
          <p:cNvPr id="24" name="Text 8">
            <a:extLst>
              <a:ext uri="{FF2B5EF4-FFF2-40B4-BE49-F238E27FC236}">
                <a16:creationId xmlns:a16="http://schemas.microsoft.com/office/drawing/2014/main" id="{ABA8BD97-0A93-4241-8407-827BFEABA206}"/>
              </a:ext>
            </a:extLst>
          </p:cNvPr>
          <p:cNvSpPr/>
          <p:nvPr/>
        </p:nvSpPr>
        <p:spPr>
          <a:xfrm>
            <a:off x="8275320" y="1927027"/>
            <a:ext cx="3063240" cy="68580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Improve customer feedback</a:t>
            </a:r>
            <a:endParaRPr lang="en-US" sz="1600" dirty="0"/>
          </a:p>
        </p:txBody>
      </p:sp>
      <p:sp>
        <p:nvSpPr>
          <p:cNvPr id="25" name="Text 5">
            <a:extLst>
              <a:ext uri="{FF2B5EF4-FFF2-40B4-BE49-F238E27FC236}">
                <a16:creationId xmlns:a16="http://schemas.microsoft.com/office/drawing/2014/main" id="{BF278146-68D0-4D2A-B05E-E1798708988E}"/>
              </a:ext>
            </a:extLst>
          </p:cNvPr>
          <p:cNvSpPr/>
          <p:nvPr/>
        </p:nvSpPr>
        <p:spPr>
          <a:xfrm>
            <a:off x="8363712" y="3971781"/>
            <a:ext cx="3264732" cy="941606"/>
          </a:xfrm>
          <a:prstGeom prst="rect">
            <a:avLst/>
          </a:prstGeom>
          <a:noFill/>
          <a:ln/>
        </p:spPr>
        <p:txBody>
          <a:bodyPr wrap="square" rtlCol="0" anchor="ctr"/>
          <a:lstStyle/>
          <a:p>
            <a:pPr marL="0" indent="0">
              <a:buNone/>
            </a:pPr>
            <a:endParaRPr lang="en-US" sz="1300" dirty="0">
              <a:solidFill>
                <a:schemeClr val="accent4">
                  <a:lumMod val="20000"/>
                  <a:lumOff val="80000"/>
                </a:schemeClr>
              </a:solidFill>
              <a:ea typeface="Calibri" pitchFamily="34" charset="-122"/>
              <a:cs typeface="Calibri" pitchFamily="34" charset="-120"/>
            </a:endParaRPr>
          </a:p>
          <a:p>
            <a:pPr marL="0" indent="0">
              <a:buNone/>
            </a:pPr>
            <a:r>
              <a:rPr lang="en-GB" sz="1300" dirty="0">
                <a:solidFill>
                  <a:schemeClr val="accent4">
                    <a:lumMod val="20000"/>
                    <a:lumOff val="80000"/>
                  </a:schemeClr>
                </a:solidFill>
              </a:rPr>
              <a:t>Customer satisfaction will improve and they will likely return more and come with more associates, thereby increasing revenue.</a:t>
            </a:r>
            <a:endParaRPr lang="en-US" sz="1300" dirty="0">
              <a:solidFill>
                <a:schemeClr val="accent4">
                  <a:lumMod val="20000"/>
                  <a:lumOff val="80000"/>
                </a:schemeClr>
              </a:solidFill>
            </a:endParaRPr>
          </a:p>
        </p:txBody>
      </p:sp>
      <p:sp>
        <p:nvSpPr>
          <p:cNvPr id="26" name="TextBox 25">
            <a:extLst>
              <a:ext uri="{FF2B5EF4-FFF2-40B4-BE49-F238E27FC236}">
                <a16:creationId xmlns:a16="http://schemas.microsoft.com/office/drawing/2014/main" id="{EC38EE0A-28B4-457B-98A7-FAEA696B49A6}"/>
              </a:ext>
            </a:extLst>
          </p:cNvPr>
          <p:cNvSpPr txBox="1"/>
          <p:nvPr/>
        </p:nvSpPr>
        <p:spPr>
          <a:xfrm>
            <a:off x="8392052" y="3861843"/>
            <a:ext cx="2023353" cy="338554"/>
          </a:xfrm>
          <a:prstGeom prst="rect">
            <a:avLst/>
          </a:prstGeom>
          <a:noFill/>
        </p:spPr>
        <p:txBody>
          <a:bodyPr wrap="square" rtlCol="0">
            <a:spAutoFit/>
          </a:bodyPr>
          <a:lstStyle/>
          <a:p>
            <a:r>
              <a:rPr lang="en-GB" sz="1600" dirty="0">
                <a:solidFill>
                  <a:schemeClr val="accent2">
                    <a:lumMod val="60000"/>
                    <a:lumOff val="40000"/>
                  </a:schemeClr>
                </a:solidFill>
              </a:rPr>
              <a:t>Impact</a:t>
            </a:r>
          </a:p>
        </p:txBody>
      </p:sp>
      <p:sp>
        <p:nvSpPr>
          <p:cNvPr id="27" name="Shape 6">
            <a:extLst>
              <a:ext uri="{FF2B5EF4-FFF2-40B4-BE49-F238E27FC236}">
                <a16:creationId xmlns:a16="http://schemas.microsoft.com/office/drawing/2014/main" id="{BE410AC1-255C-48DA-8D74-59338BB71ADC}"/>
              </a:ext>
            </a:extLst>
          </p:cNvPr>
          <p:cNvSpPr/>
          <p:nvPr/>
        </p:nvSpPr>
        <p:spPr>
          <a:xfrm>
            <a:off x="457200" y="1196480"/>
            <a:ext cx="3520440" cy="4206240"/>
          </a:xfrm>
          <a:prstGeom prst="roundRect">
            <a:avLst>
              <a:gd name="adj" fmla="val 2597"/>
            </a:avLst>
          </a:prstGeom>
          <a:solidFill>
            <a:srgbClr val="4A362B"/>
          </a:solidFill>
          <a:ln/>
        </p:spPr>
        <p:txBody>
          <a:bodyPr/>
          <a:lstStyle/>
          <a:p>
            <a:endParaRPr lang="en-GB" dirty="0"/>
          </a:p>
        </p:txBody>
      </p:sp>
      <p:sp>
        <p:nvSpPr>
          <p:cNvPr id="28" name="Text 7">
            <a:extLst>
              <a:ext uri="{FF2B5EF4-FFF2-40B4-BE49-F238E27FC236}">
                <a16:creationId xmlns:a16="http://schemas.microsoft.com/office/drawing/2014/main" id="{4F69C6DC-CBB6-4505-A063-DA2225363E6E}"/>
              </a:ext>
            </a:extLst>
          </p:cNvPr>
          <p:cNvSpPr/>
          <p:nvPr/>
        </p:nvSpPr>
        <p:spPr>
          <a:xfrm>
            <a:off x="657103" y="1368335"/>
            <a:ext cx="1371600" cy="731520"/>
          </a:xfrm>
          <a:prstGeom prst="rect">
            <a:avLst/>
          </a:prstGeom>
          <a:noFill/>
          <a:ln/>
        </p:spPr>
        <p:txBody>
          <a:bodyPr wrap="square" rtlCol="0" anchor="ctr"/>
          <a:lstStyle/>
          <a:p>
            <a:pPr marL="0" indent="0">
              <a:buNone/>
            </a:pPr>
            <a:r>
              <a:rPr lang="en-US" sz="3000" b="1" dirty="0">
                <a:solidFill>
                  <a:srgbClr val="D99A5B"/>
                </a:solidFill>
                <a:latin typeface="Cambria" pitchFamily="34" charset="0"/>
                <a:ea typeface="Cambria" pitchFamily="34" charset="-122"/>
                <a:cs typeface="Cambria" pitchFamily="34" charset="-120"/>
              </a:rPr>
              <a:t>01</a:t>
            </a:r>
            <a:endParaRPr lang="en-US" sz="3000" dirty="0"/>
          </a:p>
        </p:txBody>
      </p:sp>
      <p:sp>
        <p:nvSpPr>
          <p:cNvPr id="29" name="Text 8">
            <a:extLst>
              <a:ext uri="{FF2B5EF4-FFF2-40B4-BE49-F238E27FC236}">
                <a16:creationId xmlns:a16="http://schemas.microsoft.com/office/drawing/2014/main" id="{F5262F82-F1ED-43E2-BE4D-A1B409D78A01}"/>
              </a:ext>
            </a:extLst>
          </p:cNvPr>
          <p:cNvSpPr/>
          <p:nvPr/>
        </p:nvSpPr>
        <p:spPr>
          <a:xfrm>
            <a:off x="594360" y="2040840"/>
            <a:ext cx="3063240" cy="8229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Refresh the Monday &amp; Thursday menu</a:t>
            </a:r>
            <a:endParaRPr lang="en-US" sz="1600" dirty="0"/>
          </a:p>
        </p:txBody>
      </p:sp>
      <p:sp>
        <p:nvSpPr>
          <p:cNvPr id="30" name="Text 9">
            <a:extLst>
              <a:ext uri="{FF2B5EF4-FFF2-40B4-BE49-F238E27FC236}">
                <a16:creationId xmlns:a16="http://schemas.microsoft.com/office/drawing/2014/main" id="{5469C57D-4470-4CA9-8617-E31AC920307C}"/>
              </a:ext>
            </a:extLst>
          </p:cNvPr>
          <p:cNvSpPr/>
          <p:nvPr/>
        </p:nvSpPr>
        <p:spPr>
          <a:xfrm>
            <a:off x="594360" y="2772360"/>
            <a:ext cx="3063240" cy="914400"/>
          </a:xfrm>
          <a:prstGeom prst="rect">
            <a:avLst/>
          </a:prstGeom>
          <a:noFill/>
          <a:ln/>
        </p:spPr>
        <p:txBody>
          <a:bodyPr wrap="square" rtlCol="0" anchor="ctr"/>
          <a:lstStyle/>
          <a:p>
            <a:pPr marL="0" indent="0">
              <a:buNone/>
            </a:pPr>
            <a:r>
              <a:rPr lang="en-US" sz="1300" dirty="0">
                <a:solidFill>
                  <a:schemeClr val="accent4">
                    <a:lumMod val="20000"/>
                    <a:lumOff val="80000"/>
                  </a:schemeClr>
                </a:solidFill>
                <a:latin typeface="Calibri" pitchFamily="34" charset="0"/>
                <a:ea typeface="Calibri" pitchFamily="34" charset="-122"/>
                <a:cs typeface="Calibri" pitchFamily="34" charset="-120"/>
              </a:rPr>
              <a:t>Rotate Jollof &amp; Chicken with a featured dish or bundle on its two weakest days</a:t>
            </a:r>
            <a:r>
              <a:rPr lang="en-US" sz="1300" dirty="0">
                <a:solidFill>
                  <a:srgbClr val="E7E8D1"/>
                </a:solidFill>
                <a:latin typeface="Calibri" pitchFamily="34" charset="0"/>
                <a:ea typeface="Calibri" pitchFamily="34" charset="-122"/>
                <a:cs typeface="Calibri" pitchFamily="34" charset="-120"/>
              </a:rPr>
              <a:t>. Also promotions can be activated on those days as there are currently no active promo.</a:t>
            </a:r>
            <a:endParaRPr lang="en-US" sz="1300" dirty="0"/>
          </a:p>
        </p:txBody>
      </p:sp>
      <p:sp>
        <p:nvSpPr>
          <p:cNvPr id="33" name="TextBox 32">
            <a:extLst>
              <a:ext uri="{FF2B5EF4-FFF2-40B4-BE49-F238E27FC236}">
                <a16:creationId xmlns:a16="http://schemas.microsoft.com/office/drawing/2014/main" id="{A27BC606-7941-4B90-8BAE-40611C9E22C6}"/>
              </a:ext>
            </a:extLst>
          </p:cNvPr>
          <p:cNvSpPr txBox="1"/>
          <p:nvPr/>
        </p:nvSpPr>
        <p:spPr>
          <a:xfrm>
            <a:off x="657103" y="3785481"/>
            <a:ext cx="2023353" cy="338554"/>
          </a:xfrm>
          <a:prstGeom prst="rect">
            <a:avLst/>
          </a:prstGeom>
          <a:noFill/>
        </p:spPr>
        <p:txBody>
          <a:bodyPr wrap="square" rtlCol="0">
            <a:spAutoFit/>
          </a:bodyPr>
          <a:lstStyle/>
          <a:p>
            <a:r>
              <a:rPr lang="en-GB" sz="1600" dirty="0">
                <a:solidFill>
                  <a:schemeClr val="accent2">
                    <a:lumMod val="60000"/>
                    <a:lumOff val="40000"/>
                  </a:schemeClr>
                </a:solidFill>
              </a:rPr>
              <a:t>Impact</a:t>
            </a:r>
          </a:p>
        </p:txBody>
      </p:sp>
      <p:sp>
        <p:nvSpPr>
          <p:cNvPr id="34" name="Text 9">
            <a:extLst>
              <a:ext uri="{FF2B5EF4-FFF2-40B4-BE49-F238E27FC236}">
                <a16:creationId xmlns:a16="http://schemas.microsoft.com/office/drawing/2014/main" id="{87543448-73AE-4B0D-9CED-384CA4B21137}"/>
              </a:ext>
            </a:extLst>
          </p:cNvPr>
          <p:cNvSpPr/>
          <p:nvPr/>
        </p:nvSpPr>
        <p:spPr>
          <a:xfrm>
            <a:off x="563556" y="4160498"/>
            <a:ext cx="3063240" cy="914400"/>
          </a:xfrm>
          <a:prstGeom prst="rect">
            <a:avLst/>
          </a:prstGeom>
          <a:noFill/>
          <a:ln/>
        </p:spPr>
        <p:txBody>
          <a:bodyPr wrap="square" rtlCol="0" anchor="ctr"/>
          <a:lstStyle/>
          <a:p>
            <a:pPr marL="0" indent="0">
              <a:buNone/>
            </a:pPr>
            <a:r>
              <a:rPr lang="en-US" sz="1300" dirty="0">
                <a:solidFill>
                  <a:srgbClr val="E7E8D1"/>
                </a:solidFill>
                <a:latin typeface="Calibri" pitchFamily="34" charset="0"/>
                <a:ea typeface="Calibri" pitchFamily="34" charset="-122"/>
                <a:cs typeface="Calibri" pitchFamily="34" charset="-120"/>
              </a:rPr>
              <a:t>This will improve revenue without affecting peak sales and also increase customer visits &amp; spending on slow days.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3A2A22"/>
        </a:solidFill>
        <a:effectLst/>
      </p:bgPr>
    </p:bg>
    <p:spTree>
      <p:nvGrpSpPr>
        <p:cNvPr id="1" name=""/>
        <p:cNvGrpSpPr/>
        <p:nvPr/>
      </p:nvGrpSpPr>
      <p:grpSpPr>
        <a:xfrm>
          <a:off x="0" y="0"/>
          <a:ext cx="0" cy="0"/>
          <a:chOff x="0" y="0"/>
          <a:chExt cx="0" cy="0"/>
        </a:xfrm>
      </p:grpSpPr>
      <p:sp>
        <p:nvSpPr>
          <p:cNvPr id="2" name="Shape 0"/>
          <p:cNvSpPr/>
          <p:nvPr/>
        </p:nvSpPr>
        <p:spPr>
          <a:xfrm>
            <a:off x="-2286000" y="-2286000"/>
            <a:ext cx="5486400" cy="5486400"/>
          </a:xfrm>
          <a:prstGeom prst="ellipse">
            <a:avLst/>
          </a:prstGeom>
          <a:solidFill>
            <a:srgbClr val="B85042">
              <a:alpha val="30000"/>
            </a:srgbClr>
          </a:solidFill>
          <a:ln/>
        </p:spPr>
      </p:sp>
      <p:sp>
        <p:nvSpPr>
          <p:cNvPr id="3" name="Shape 1"/>
          <p:cNvSpPr/>
          <p:nvPr/>
        </p:nvSpPr>
        <p:spPr>
          <a:xfrm>
            <a:off x="9144000" y="4114800"/>
            <a:ext cx="4572000" cy="4572000"/>
          </a:xfrm>
          <a:prstGeom prst="ellipse">
            <a:avLst/>
          </a:prstGeom>
          <a:solidFill>
            <a:srgbClr val="D99A5B">
              <a:alpha val="20000"/>
            </a:srgbClr>
          </a:solidFill>
          <a:ln/>
        </p:spPr>
      </p:sp>
      <p:sp>
        <p:nvSpPr>
          <p:cNvPr id="4" name="Text 2"/>
          <p:cNvSpPr/>
          <p:nvPr/>
        </p:nvSpPr>
        <p:spPr>
          <a:xfrm>
            <a:off x="0" y="2468880"/>
            <a:ext cx="12188952" cy="1005840"/>
          </a:xfrm>
          <a:prstGeom prst="rect">
            <a:avLst/>
          </a:prstGeom>
          <a:noFill/>
          <a:ln/>
        </p:spPr>
        <p:txBody>
          <a:bodyPr wrap="square"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p:nvPr/>
        </p:nvSpPr>
        <p:spPr>
          <a:xfrm>
            <a:off x="0" y="3429000"/>
            <a:ext cx="12188952" cy="548640"/>
          </a:xfrm>
          <a:prstGeom prst="rect">
            <a:avLst/>
          </a:prstGeom>
          <a:noFill/>
          <a:ln/>
        </p:spPr>
        <p:txBody>
          <a:bodyPr wrap="square" rtlCol="0" anchor="ctr"/>
          <a:lstStyle/>
          <a:p>
            <a:pPr marL="0" indent="0" algn="ctr">
              <a:buNone/>
            </a:pPr>
            <a:r>
              <a:rPr lang="en-US" sz="1800" i="1" dirty="0">
                <a:solidFill>
                  <a:srgbClr val="D99A5B"/>
                </a:solidFill>
                <a:latin typeface="Calibri" pitchFamily="34" charset="0"/>
                <a:ea typeface="Calibri" pitchFamily="34" charset="-122"/>
                <a:cs typeface="Calibri" pitchFamily="34" charset="-120"/>
              </a:rPr>
              <a:t>Questions &amp; Discussion</a:t>
            </a:r>
            <a:endParaRPr lang="en-US" sz="1800" dirty="0"/>
          </a:p>
        </p:txBody>
      </p:sp>
      <p:sp>
        <p:nvSpPr>
          <p:cNvPr id="6" name="Text 4"/>
          <p:cNvSpPr/>
          <p:nvPr/>
        </p:nvSpPr>
        <p:spPr>
          <a:xfrm>
            <a:off x="0" y="6126480"/>
            <a:ext cx="12188952" cy="365760"/>
          </a:xfrm>
          <a:prstGeom prst="rect">
            <a:avLst/>
          </a:prstGeom>
          <a:noFill/>
          <a:ln/>
        </p:spPr>
        <p:txBody>
          <a:bodyPr wrap="square" rtlCol="0" anchor="ctr"/>
          <a:lstStyle/>
          <a:p>
            <a:pPr marL="0" indent="0" algn="ctr">
              <a:buNone/>
            </a:pPr>
            <a:r>
              <a:rPr lang="en-US" sz="1100" dirty="0">
                <a:solidFill>
                  <a:srgbClr val="C9C0B8"/>
                </a:solidFill>
                <a:latin typeface="Calibri" pitchFamily="34" charset="0"/>
                <a:ea typeface="Calibri" pitchFamily="34" charset="-122"/>
                <a:cs typeface="Calibri" pitchFamily="34" charset="-120"/>
              </a:rPr>
              <a:t>Tasty Bites · Sales &amp; Customer Insights </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1706</TotalTime>
  <Words>1422</Words>
  <Application>Microsoft Office PowerPoint</Application>
  <PresentationFormat>Widescreen</PresentationFormat>
  <Paragraphs>113</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Rebecca S (DAUPSKILL-COHORT1)</cp:lastModifiedBy>
  <cp:revision>23</cp:revision>
  <dcterms:created xsi:type="dcterms:W3CDTF">2026-07-16T21:19:28Z</dcterms:created>
  <dcterms:modified xsi:type="dcterms:W3CDTF">2026-07-21T06:30:11Z</dcterms:modified>
</cp:coreProperties>
</file>